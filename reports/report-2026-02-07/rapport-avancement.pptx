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3B49"/>
          </a:solidFill>
          <a:ln/>
        </p:spPr>
      </p:sp>
      <p:sp>
        <p:nvSpPr>
          <p:cNvPr id="3" name="Shape 1"/>
          <p:cNvSpPr/>
          <p:nvPr/>
        </p:nvSpPr>
        <p:spPr>
          <a:xfrm>
            <a:off x="0" y="4754880"/>
            <a:ext cx="9144000" cy="54864"/>
          </a:xfrm>
          <a:prstGeom prst="rect">
            <a:avLst/>
          </a:prstGeom>
          <a:solidFill>
            <a:srgbClr val="80A4AC"/>
          </a:solidFill>
          <a:ln/>
        </p:spPr>
      </p:sp>
      <p:sp>
        <p:nvSpPr>
          <p:cNvPr id="4" name="Shape 2"/>
          <p:cNvSpPr/>
          <p:nvPr/>
        </p:nvSpPr>
        <p:spPr>
          <a:xfrm>
            <a:off x="8046720" y="0"/>
            <a:ext cx="1097280" cy="457200"/>
          </a:xfrm>
          <a:prstGeom prst="rect">
            <a:avLst/>
          </a:prstGeom>
          <a:solidFill>
            <a:srgbClr val="80A4AC"/>
          </a:solidFill>
          <a:ln/>
        </p:spPr>
      </p:sp>
      <p:sp>
        <p:nvSpPr>
          <p:cNvPr id="5" name="Text 3"/>
          <p:cNvSpPr/>
          <p:nvPr/>
        </p:nvSpPr>
        <p:spPr>
          <a:xfrm>
            <a:off x="548640" y="365760"/>
            <a:ext cx="3657600" cy="365760"/>
          </a:xfrm>
          <a:prstGeom prst="rect">
            <a:avLst/>
          </a:prstGeom>
          <a:noFill/>
          <a:ln/>
        </p:spPr>
        <p:txBody>
          <a:bodyPr wrap="square" rtlCol="0" anchor="ctr"/>
          <a:lstStyle/>
          <a:p>
            <a:pPr indent="0" marL="0">
              <a:buNone/>
            </a:pPr>
            <a:r>
              <a:rPr lang="en-US" sz="1400" b="1" dirty="0">
                <a:solidFill>
                  <a:srgbClr val="E6F0F2"/>
                </a:solidFill>
                <a:latin typeface="Inter" pitchFamily="34" charset="0"/>
                <a:ea typeface="Inter" pitchFamily="34" charset="-122"/>
                <a:cs typeface="Inter" pitchFamily="34" charset="-120"/>
              </a:rPr>
              <a:t>DC Solutions</a:t>
            </a:r>
            <a:endParaRPr lang="en-US" sz="1400" dirty="0"/>
          </a:p>
        </p:txBody>
      </p:sp>
      <p:sp>
        <p:nvSpPr>
          <p:cNvPr id="6" name="Text 4"/>
          <p:cNvSpPr/>
          <p:nvPr/>
        </p:nvSpPr>
        <p:spPr>
          <a:xfrm>
            <a:off x="548640" y="1645920"/>
            <a:ext cx="8046720" cy="1097280"/>
          </a:xfrm>
          <a:prstGeom prst="rect">
            <a:avLst/>
          </a:prstGeom>
          <a:noFill/>
          <a:ln/>
        </p:spPr>
        <p:txBody>
          <a:bodyPr wrap="square" rtlCol="0" anchor="ctr"/>
          <a:lstStyle/>
          <a:p>
            <a:pPr indent="0" marL="0">
              <a:lnSpc>
                <a:spcPts val="4200"/>
              </a:lnSpc>
              <a:buNone/>
            </a:pPr>
            <a:r>
              <a:rPr lang="en-US" sz="3200" b="1" dirty="0">
                <a:solidFill>
                  <a:srgbClr val="FFFFFF"/>
                </a:solidFill>
                <a:latin typeface="Inter" pitchFamily="34" charset="0"/>
                <a:ea typeface="Inter" pitchFamily="34" charset="-122"/>
                <a:cs typeface="Inter" pitchFamily="34" charset="-120"/>
              </a:rPr>
              <a:t>Research Assistant</a:t>
            </a:r>
            <a:endParaRPr lang="en-US" sz="3200" dirty="0"/>
          </a:p>
        </p:txBody>
      </p:sp>
      <p:sp>
        <p:nvSpPr>
          <p:cNvPr id="7" name="Text 5"/>
          <p:cNvSpPr/>
          <p:nvPr/>
        </p:nvSpPr>
        <p:spPr>
          <a:xfrm>
            <a:off x="548640" y="2926080"/>
            <a:ext cx="7315200" cy="548640"/>
          </a:xfrm>
          <a:prstGeom prst="rect">
            <a:avLst/>
          </a:prstGeom>
          <a:noFill/>
          <a:ln/>
        </p:spPr>
        <p:txBody>
          <a:bodyPr wrap="square" rtlCol="0" anchor="ctr"/>
          <a:lstStyle/>
          <a:p>
            <a:pPr indent="0" marL="0">
              <a:buNone/>
            </a:pPr>
            <a:r>
              <a:rPr lang="en-US" sz="1800" i="1" dirty="0">
                <a:solidFill>
                  <a:srgbClr val="80A4AC"/>
                </a:solidFill>
                <a:latin typeface="Inter" pitchFamily="34" charset="0"/>
                <a:ea typeface="Inter" pitchFamily="34" charset="-122"/>
                <a:cs typeface="Inter" pitchFamily="34" charset="-120"/>
              </a:rPr>
              <a:t>Rapport d'Avancement</a:t>
            </a:r>
            <a:endParaRPr lang="en-US" sz="1800" dirty="0"/>
          </a:p>
        </p:txBody>
      </p:sp>
      <p:sp>
        <p:nvSpPr>
          <p:cNvPr id="8" name="Text 6"/>
          <p:cNvSpPr/>
          <p:nvPr/>
        </p:nvSpPr>
        <p:spPr>
          <a:xfrm>
            <a:off x="548640" y="5029200"/>
            <a:ext cx="5486400" cy="914400"/>
          </a:xfrm>
          <a:prstGeom prst="rect">
            <a:avLst/>
          </a:prstGeom>
          <a:noFill/>
          <a:ln/>
        </p:spPr>
        <p:txBody>
          <a:bodyPr wrap="square" rtlCol="0" anchor="ctr"/>
          <a:lstStyle/>
          <a:p>
            <a:pPr indent="0" marL="0">
              <a:lnSpc>
                <a:spcPts val="2000"/>
              </a:lnSpc>
              <a:buNone/>
            </a:pPr>
            <a:r>
              <a:rPr lang="en-US" sz="1200" dirty="0">
                <a:solidFill>
                  <a:srgbClr val="E6F0F2"/>
                </a:solidFill>
                <a:latin typeface="Inter" pitchFamily="34" charset="0"/>
                <a:ea typeface="Inter" pitchFamily="34" charset="-122"/>
                <a:cs typeface="Inter" pitchFamily="34" charset="-120"/>
              </a:rPr>
              <a:t>Periode : 14 janvier 2026 - 07 fevrier 2026</a:t>
            </a:r>
            <a:endParaRPr lang="en-US" sz="1200" dirty="0"/>
          </a:p>
          <a:p>
            <a:pPr indent="0" marL="0">
              <a:lnSpc>
                <a:spcPts val="2000"/>
              </a:lnSpc>
              <a:buNone/>
            </a:pPr>
            <a:r>
              <a:rPr lang="en-US" sz="1100" dirty="0">
                <a:solidFill>
                  <a:srgbClr val="888888"/>
                </a:solidFill>
                <a:latin typeface="Inter" pitchFamily="34" charset="0"/>
                <a:ea typeface="Inter" pitchFamily="34" charset="-122"/>
                <a:cs typeface="Inter" pitchFamily="34" charset="-120"/>
              </a:rPr>
              <a:t>Client : DC Solutions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36576"/>
          </a:xfrm>
          <a:prstGeom prst="rect">
            <a:avLst/>
          </a:prstGeom>
          <a:solidFill>
            <a:srgbClr val="80A4AC"/>
          </a:solidFill>
          <a:ln/>
        </p:spPr>
      </p:sp>
      <p:sp>
        <p:nvSpPr>
          <p:cNvPr id="4" name="Shape 2"/>
          <p:cNvSpPr/>
          <p:nvPr/>
        </p:nvSpPr>
        <p:spPr>
          <a:xfrm>
            <a:off x="0" y="0"/>
            <a:ext cx="73152" cy="5143500"/>
          </a:xfrm>
          <a:prstGeom prst="rect">
            <a:avLst/>
          </a:prstGeom>
          <a:solidFill>
            <a:srgbClr val="003B49"/>
          </a:solidFill>
          <a:ln/>
        </p:spPr>
      </p:sp>
      <p:sp>
        <p:nvSpPr>
          <p:cNvPr id="5" name="Shape 3"/>
          <p:cNvSpPr/>
          <p:nvPr/>
        </p:nvSpPr>
        <p:spPr>
          <a:xfrm>
            <a:off x="73152" y="36576"/>
            <a:ext cx="9144000" cy="777240"/>
          </a:xfrm>
          <a:prstGeom prst="rect">
            <a:avLst/>
          </a:prstGeom>
          <a:solidFill>
            <a:srgbClr val="F8F9FA"/>
          </a:solidFill>
          <a:ln/>
        </p:spPr>
      </p:sp>
      <p:sp>
        <p:nvSpPr>
          <p:cNvPr id="6" name="Text 4"/>
          <p:cNvSpPr/>
          <p:nvPr/>
        </p:nvSpPr>
        <p:spPr>
          <a:xfrm>
            <a:off x="502920" y="137160"/>
            <a:ext cx="7772400" cy="548640"/>
          </a:xfrm>
          <a:prstGeom prst="rect">
            <a:avLst/>
          </a:prstGeom>
          <a:noFill/>
          <a:ln/>
        </p:spPr>
        <p:txBody>
          <a:bodyPr wrap="square" rtlCol="0" anchor="ctr"/>
          <a:lstStyle/>
          <a:p>
            <a:pPr indent="0" marL="0">
              <a:buNone/>
            </a:pPr>
            <a:r>
              <a:rPr lang="en-US" sz="2200" b="1" dirty="0">
                <a:solidFill>
                  <a:srgbClr val="003B49"/>
                </a:solidFill>
                <a:latin typeface="Inter" pitchFamily="34" charset="0"/>
                <a:ea typeface="Inter" pitchFamily="34" charset="-122"/>
                <a:cs typeface="Inter" pitchFamily="34" charset="-120"/>
              </a:rPr>
              <a:t>Resume Executif</a:t>
            </a:r>
            <a:endParaRPr lang="en-US" sz="2200" dirty="0"/>
          </a:p>
        </p:txBody>
      </p:sp>
      <p:sp>
        <p:nvSpPr>
          <p:cNvPr id="7" name="Shape 5"/>
          <p:cNvSpPr/>
          <p:nvPr/>
        </p:nvSpPr>
        <p:spPr>
          <a:xfrm>
            <a:off x="502920" y="713232"/>
            <a:ext cx="1097280" cy="32004"/>
          </a:xfrm>
          <a:prstGeom prst="rect">
            <a:avLst/>
          </a:prstGeom>
          <a:solidFill>
            <a:srgbClr val="003B49"/>
          </a:solidFill>
          <a:ln/>
        </p:spPr>
      </p:sp>
      <p:sp>
        <p:nvSpPr>
          <p:cNvPr id="8" name="Shape 6"/>
          <p:cNvSpPr/>
          <p:nvPr/>
        </p:nvSpPr>
        <p:spPr>
          <a:xfrm>
            <a:off x="502920" y="6446520"/>
            <a:ext cx="8229600" cy="9144"/>
          </a:xfrm>
          <a:prstGeom prst="rect">
            <a:avLst/>
          </a:prstGeom>
          <a:solidFill>
            <a:srgbClr val="E6F0F2"/>
          </a:solidFill>
          <a:ln/>
        </p:spPr>
      </p:sp>
      <p:sp>
        <p:nvSpPr>
          <p:cNvPr id="9" name="Text 7"/>
          <p:cNvSpPr/>
          <p:nvPr/>
        </p:nvSpPr>
        <p:spPr>
          <a:xfrm>
            <a:off x="502920" y="6473952"/>
            <a:ext cx="8229600" cy="274320"/>
          </a:xfrm>
          <a:prstGeom prst="rect">
            <a:avLst/>
          </a:prstGeom>
          <a:noFill/>
          <a:ln/>
        </p:spPr>
        <p:txBody>
          <a:bodyPr wrap="square" rtlCol="0" anchor="ctr"/>
          <a:lstStyle/>
          <a:p>
            <a:pPr indent="0" marL="0">
              <a:buNone/>
            </a:pPr>
            <a:r>
              <a:rPr lang="en-US" sz="700" dirty="0">
                <a:solidFill>
                  <a:srgbClr val="888888"/>
                </a:solidFill>
                <a:latin typeface="Inter" pitchFamily="34" charset="0"/>
                <a:ea typeface="Inter" pitchFamily="34" charset="-122"/>
                <a:cs typeface="Inter" pitchFamily="34" charset="-120"/>
              </a:rPr>
              <a:t>DC Solutions  |  Confidentiel</a:t>
            </a:r>
            <a:endParaRPr lang="en-US" sz="700" dirty="0"/>
          </a:p>
        </p:txBody>
      </p:sp>
      <p:sp>
        <p:nvSpPr>
          <p:cNvPr id="10" name="Shape 8"/>
          <p:cNvSpPr/>
          <p:nvPr/>
        </p:nvSpPr>
        <p:spPr>
          <a:xfrm>
            <a:off x="521208" y="1069848"/>
            <a:ext cx="8138160" cy="2011680"/>
          </a:xfrm>
          <a:prstGeom prst="rect">
            <a:avLst>
              <a:gd name="adj" fmla="val 3636"/>
            </a:avLst>
          </a:prstGeom>
          <a:solidFill>
            <a:srgbClr val="E8E8E8"/>
          </a:solidFill>
          <a:ln/>
        </p:spPr>
      </p:sp>
      <p:sp>
        <p:nvSpPr>
          <p:cNvPr id="11" name="Shape 9"/>
          <p:cNvSpPr/>
          <p:nvPr/>
        </p:nvSpPr>
        <p:spPr>
          <a:xfrm>
            <a:off x="502920" y="1051560"/>
            <a:ext cx="8138160" cy="2011680"/>
          </a:xfrm>
          <a:prstGeom prst="rect">
            <a:avLst>
              <a:gd name="adj" fmla="val 3636"/>
            </a:avLst>
          </a:prstGeom>
          <a:solidFill>
            <a:srgbClr val="FFFFFF"/>
          </a:solidFill>
          <a:ln w="6350">
            <a:solidFill>
              <a:srgbClr val="E0E0E0"/>
            </a:solidFill>
            <a:prstDash val="solid"/>
          </a:ln>
        </p:spPr>
      </p:sp>
      <p:sp>
        <p:nvSpPr>
          <p:cNvPr id="12" name="Text 10"/>
          <p:cNvSpPr/>
          <p:nvPr/>
        </p:nvSpPr>
        <p:spPr>
          <a:xfrm>
            <a:off x="777240" y="1234440"/>
            <a:ext cx="7589520" cy="1645920"/>
          </a:xfrm>
          <a:prstGeom prst="rect">
            <a:avLst/>
          </a:prstGeom>
          <a:noFill/>
          <a:ln/>
        </p:spPr>
        <p:txBody>
          <a:bodyPr wrap="square" rtlCol="0" anchor="t"/>
          <a:lstStyle/>
          <a:p>
            <a:pPr indent="0" marL="0">
              <a:lnSpc>
                <a:spcPts val="2100"/>
              </a:lnSpc>
              <a:buNone/>
            </a:pPr>
            <a:r>
              <a:rPr lang="en-US" sz="1150" dirty="0">
                <a:solidFill>
                  <a:srgbClr val="1A1A1A"/>
                </a:solidFill>
                <a:latin typeface="Inter" pitchFamily="34" charset="0"/>
                <a:ea typeface="Inter" pitchFamily="34" charset="-122"/>
                <a:cs typeface="Inter" pitchFamily="34" charset="-120"/>
              </a:rPr>
              <a:t>Sur cette periode, le projet Research Assistant a connu un developpement intensif couvrant l'ensemble du cycle de vie de l'application. L'architecture fondatrice a ete mise en place (monorepo, base de donnees, deploiement Docker), suivie de l'implementation complete du pipeline de gestion documentaire (upload PDF, extraction de texte, drag-and-drop). Le coeur du systeme - la generation de revues de litterature assistee par IA via Anthropic Claude - a ete developpe avec suivi en temps reel par WebSocket, tracabilite des citations et export bibliographique. La derniere phase a livre le viewer PDF integre avec navigation inter-citations. Au total, 30 commits representant 833 fichiers modifies et plus de 159 000 lignes de code ajoutees.</a:t>
            </a:r>
            <a:endParaRPr lang="en-US" sz="1150" dirty="0"/>
          </a:p>
        </p:txBody>
      </p:sp>
      <p:sp>
        <p:nvSpPr>
          <p:cNvPr id="13" name="Shape 11"/>
          <p:cNvSpPr/>
          <p:nvPr/>
        </p:nvSpPr>
        <p:spPr>
          <a:xfrm>
            <a:off x="521208" y="3401568"/>
            <a:ext cx="1874520" cy="1280160"/>
          </a:xfrm>
          <a:prstGeom prst="rect">
            <a:avLst>
              <a:gd name="adj" fmla="val 5714"/>
            </a:avLst>
          </a:prstGeom>
          <a:solidFill>
            <a:srgbClr val="E8E8E8"/>
          </a:solidFill>
          <a:ln/>
        </p:spPr>
      </p:sp>
      <p:sp>
        <p:nvSpPr>
          <p:cNvPr id="14" name="Shape 12"/>
          <p:cNvSpPr/>
          <p:nvPr/>
        </p:nvSpPr>
        <p:spPr>
          <a:xfrm>
            <a:off x="502920" y="3383280"/>
            <a:ext cx="1874520" cy="1280160"/>
          </a:xfrm>
          <a:prstGeom prst="rect">
            <a:avLst>
              <a:gd name="adj" fmla="val 5714"/>
            </a:avLst>
          </a:prstGeom>
          <a:solidFill>
            <a:srgbClr val="FFFFFF"/>
          </a:solidFill>
          <a:ln w="6350">
            <a:solidFill>
              <a:srgbClr val="E0E0E0"/>
            </a:solidFill>
            <a:prstDash val="solid"/>
          </a:ln>
        </p:spPr>
      </p:sp>
      <p:sp>
        <p:nvSpPr>
          <p:cNvPr id="15" name="Shape 13"/>
          <p:cNvSpPr/>
          <p:nvPr/>
        </p:nvSpPr>
        <p:spPr>
          <a:xfrm>
            <a:off x="502920" y="3383280"/>
            <a:ext cx="1874520" cy="45720"/>
          </a:xfrm>
          <a:prstGeom prst="rect">
            <a:avLst/>
          </a:prstGeom>
          <a:solidFill>
            <a:srgbClr val="003B49"/>
          </a:solidFill>
          <a:ln/>
        </p:spPr>
      </p:sp>
      <p:sp>
        <p:nvSpPr>
          <p:cNvPr id="16" name="Text 14"/>
          <p:cNvSpPr/>
          <p:nvPr/>
        </p:nvSpPr>
        <p:spPr>
          <a:xfrm>
            <a:off x="502920" y="3520440"/>
            <a:ext cx="1874520" cy="640080"/>
          </a:xfrm>
          <a:prstGeom prst="rect">
            <a:avLst/>
          </a:prstGeom>
          <a:noFill/>
          <a:ln/>
        </p:spPr>
        <p:txBody>
          <a:bodyPr wrap="square" rtlCol="0" anchor="ctr"/>
          <a:lstStyle/>
          <a:p>
            <a:pPr algn="ctr" indent="0" marL="0">
              <a:buNone/>
            </a:pPr>
            <a:r>
              <a:rPr lang="en-US" sz="2800" b="1" dirty="0">
                <a:solidFill>
                  <a:srgbClr val="003B49"/>
                </a:solidFill>
                <a:latin typeface="Inter" pitchFamily="34" charset="0"/>
                <a:ea typeface="Inter" pitchFamily="34" charset="-122"/>
                <a:cs typeface="Inter" pitchFamily="34" charset="-120"/>
              </a:rPr>
              <a:t>30</a:t>
            </a:r>
            <a:endParaRPr lang="en-US" sz="2800" dirty="0"/>
          </a:p>
        </p:txBody>
      </p:sp>
      <p:sp>
        <p:nvSpPr>
          <p:cNvPr id="17" name="Text 15"/>
          <p:cNvSpPr/>
          <p:nvPr/>
        </p:nvSpPr>
        <p:spPr>
          <a:xfrm>
            <a:off x="502920" y="4160520"/>
            <a:ext cx="1874520" cy="365760"/>
          </a:xfrm>
          <a:prstGeom prst="rect">
            <a:avLst/>
          </a:prstGeom>
          <a:noFill/>
          <a:ln/>
        </p:spPr>
        <p:txBody>
          <a:bodyPr wrap="square" rtlCol="0" anchor="ctr"/>
          <a:lstStyle/>
          <a:p>
            <a:pPr algn="ctr" indent="0" marL="0">
              <a:buNone/>
            </a:pPr>
            <a:r>
              <a:rPr lang="en-US" sz="1000" dirty="0">
                <a:solidFill>
                  <a:srgbClr val="888888"/>
                </a:solidFill>
                <a:latin typeface="Inter" pitchFamily="34" charset="0"/>
                <a:ea typeface="Inter" pitchFamily="34" charset="-122"/>
                <a:cs typeface="Inter" pitchFamily="34" charset="-120"/>
              </a:rPr>
              <a:t>Commits</a:t>
            </a:r>
            <a:endParaRPr lang="en-US" sz="1000" dirty="0"/>
          </a:p>
        </p:txBody>
      </p:sp>
      <p:sp>
        <p:nvSpPr>
          <p:cNvPr id="18" name="Shape 16"/>
          <p:cNvSpPr/>
          <p:nvPr/>
        </p:nvSpPr>
        <p:spPr>
          <a:xfrm>
            <a:off x="2578608" y="3401568"/>
            <a:ext cx="1874520" cy="1280160"/>
          </a:xfrm>
          <a:prstGeom prst="rect">
            <a:avLst>
              <a:gd name="adj" fmla="val 5714"/>
            </a:avLst>
          </a:prstGeom>
          <a:solidFill>
            <a:srgbClr val="E8E8E8"/>
          </a:solidFill>
          <a:ln/>
        </p:spPr>
      </p:sp>
      <p:sp>
        <p:nvSpPr>
          <p:cNvPr id="19" name="Shape 17"/>
          <p:cNvSpPr/>
          <p:nvPr/>
        </p:nvSpPr>
        <p:spPr>
          <a:xfrm>
            <a:off x="2560320" y="3383280"/>
            <a:ext cx="1874520" cy="1280160"/>
          </a:xfrm>
          <a:prstGeom prst="rect">
            <a:avLst>
              <a:gd name="adj" fmla="val 5714"/>
            </a:avLst>
          </a:prstGeom>
          <a:solidFill>
            <a:srgbClr val="FFFFFF"/>
          </a:solidFill>
          <a:ln w="6350">
            <a:solidFill>
              <a:srgbClr val="E0E0E0"/>
            </a:solidFill>
            <a:prstDash val="solid"/>
          </a:ln>
        </p:spPr>
      </p:sp>
      <p:sp>
        <p:nvSpPr>
          <p:cNvPr id="20" name="Shape 18"/>
          <p:cNvSpPr/>
          <p:nvPr/>
        </p:nvSpPr>
        <p:spPr>
          <a:xfrm>
            <a:off x="2560320" y="3383280"/>
            <a:ext cx="1874520" cy="45720"/>
          </a:xfrm>
          <a:prstGeom prst="rect">
            <a:avLst/>
          </a:prstGeom>
          <a:solidFill>
            <a:srgbClr val="80A4AC"/>
          </a:solidFill>
          <a:ln/>
        </p:spPr>
      </p:sp>
      <p:sp>
        <p:nvSpPr>
          <p:cNvPr id="21" name="Text 19"/>
          <p:cNvSpPr/>
          <p:nvPr/>
        </p:nvSpPr>
        <p:spPr>
          <a:xfrm>
            <a:off x="2560320" y="3520440"/>
            <a:ext cx="1874520" cy="640080"/>
          </a:xfrm>
          <a:prstGeom prst="rect">
            <a:avLst/>
          </a:prstGeom>
          <a:noFill/>
          <a:ln/>
        </p:spPr>
        <p:txBody>
          <a:bodyPr wrap="square" rtlCol="0" anchor="ctr"/>
          <a:lstStyle/>
          <a:p>
            <a:pPr algn="ctr" indent="0" marL="0">
              <a:buNone/>
            </a:pPr>
            <a:r>
              <a:rPr lang="en-US" sz="2800" b="1" dirty="0">
                <a:solidFill>
                  <a:srgbClr val="003B49"/>
                </a:solidFill>
                <a:latin typeface="Inter" pitchFamily="34" charset="0"/>
                <a:ea typeface="Inter" pitchFamily="34" charset="-122"/>
                <a:cs typeface="Inter" pitchFamily="34" charset="-120"/>
              </a:rPr>
              <a:t>833</a:t>
            </a:r>
            <a:endParaRPr lang="en-US" sz="2800" dirty="0"/>
          </a:p>
        </p:txBody>
      </p:sp>
      <p:sp>
        <p:nvSpPr>
          <p:cNvPr id="22" name="Text 20"/>
          <p:cNvSpPr/>
          <p:nvPr/>
        </p:nvSpPr>
        <p:spPr>
          <a:xfrm>
            <a:off x="2560320" y="4160520"/>
            <a:ext cx="1874520" cy="365760"/>
          </a:xfrm>
          <a:prstGeom prst="rect">
            <a:avLst/>
          </a:prstGeom>
          <a:noFill/>
          <a:ln/>
        </p:spPr>
        <p:txBody>
          <a:bodyPr wrap="square" rtlCol="0" anchor="ctr"/>
          <a:lstStyle/>
          <a:p>
            <a:pPr algn="ctr" indent="0" marL="0">
              <a:buNone/>
            </a:pPr>
            <a:r>
              <a:rPr lang="en-US" sz="1000" dirty="0">
                <a:solidFill>
                  <a:srgbClr val="888888"/>
                </a:solidFill>
                <a:latin typeface="Inter" pitchFamily="34" charset="0"/>
                <a:ea typeface="Inter" pitchFamily="34" charset="-122"/>
                <a:cs typeface="Inter" pitchFamily="34" charset="-120"/>
              </a:rPr>
              <a:t>Fichiers</a:t>
            </a:r>
            <a:endParaRPr lang="en-US" sz="1000" dirty="0"/>
          </a:p>
        </p:txBody>
      </p:sp>
      <p:sp>
        <p:nvSpPr>
          <p:cNvPr id="23" name="Shape 21"/>
          <p:cNvSpPr/>
          <p:nvPr/>
        </p:nvSpPr>
        <p:spPr>
          <a:xfrm>
            <a:off x="4636008" y="3401568"/>
            <a:ext cx="1874520" cy="1280160"/>
          </a:xfrm>
          <a:prstGeom prst="rect">
            <a:avLst>
              <a:gd name="adj" fmla="val 5714"/>
            </a:avLst>
          </a:prstGeom>
          <a:solidFill>
            <a:srgbClr val="E8E8E8"/>
          </a:solidFill>
          <a:ln/>
        </p:spPr>
      </p:sp>
      <p:sp>
        <p:nvSpPr>
          <p:cNvPr id="24" name="Shape 22"/>
          <p:cNvSpPr/>
          <p:nvPr/>
        </p:nvSpPr>
        <p:spPr>
          <a:xfrm>
            <a:off x="4617720" y="3383280"/>
            <a:ext cx="1874520" cy="1280160"/>
          </a:xfrm>
          <a:prstGeom prst="rect">
            <a:avLst>
              <a:gd name="adj" fmla="val 5714"/>
            </a:avLst>
          </a:prstGeom>
          <a:solidFill>
            <a:srgbClr val="FFFFFF"/>
          </a:solidFill>
          <a:ln w="6350">
            <a:solidFill>
              <a:srgbClr val="E0E0E0"/>
            </a:solidFill>
            <a:prstDash val="solid"/>
          </a:ln>
        </p:spPr>
      </p:sp>
      <p:sp>
        <p:nvSpPr>
          <p:cNvPr id="25" name="Shape 23"/>
          <p:cNvSpPr/>
          <p:nvPr/>
        </p:nvSpPr>
        <p:spPr>
          <a:xfrm>
            <a:off x="4617720" y="3383280"/>
            <a:ext cx="1874520" cy="45720"/>
          </a:xfrm>
          <a:prstGeom prst="rect">
            <a:avLst/>
          </a:prstGeom>
          <a:solidFill>
            <a:srgbClr val="003B49"/>
          </a:solidFill>
          <a:ln/>
        </p:spPr>
      </p:sp>
      <p:sp>
        <p:nvSpPr>
          <p:cNvPr id="26" name="Text 24"/>
          <p:cNvSpPr/>
          <p:nvPr/>
        </p:nvSpPr>
        <p:spPr>
          <a:xfrm>
            <a:off x="4617720" y="3520440"/>
            <a:ext cx="1874520" cy="640080"/>
          </a:xfrm>
          <a:prstGeom prst="rect">
            <a:avLst/>
          </a:prstGeom>
          <a:noFill/>
          <a:ln/>
        </p:spPr>
        <p:txBody>
          <a:bodyPr wrap="square" rtlCol="0" anchor="ctr"/>
          <a:lstStyle/>
          <a:p>
            <a:pPr algn="ctr" indent="0" marL="0">
              <a:buNone/>
            </a:pPr>
            <a:r>
              <a:rPr lang="en-US" sz="2800" b="1" dirty="0">
                <a:solidFill>
                  <a:srgbClr val="003B49"/>
                </a:solidFill>
                <a:latin typeface="Inter" pitchFamily="34" charset="0"/>
                <a:ea typeface="Inter" pitchFamily="34" charset="-122"/>
                <a:cs typeface="Inter" pitchFamily="34" charset="-120"/>
              </a:rPr>
              <a:t>24</a:t>
            </a:r>
            <a:endParaRPr lang="en-US" sz="2800" dirty="0"/>
          </a:p>
        </p:txBody>
      </p:sp>
      <p:sp>
        <p:nvSpPr>
          <p:cNvPr id="27" name="Text 25"/>
          <p:cNvSpPr/>
          <p:nvPr/>
        </p:nvSpPr>
        <p:spPr>
          <a:xfrm>
            <a:off x="4617720" y="4160520"/>
            <a:ext cx="1874520" cy="365760"/>
          </a:xfrm>
          <a:prstGeom prst="rect">
            <a:avLst/>
          </a:prstGeom>
          <a:noFill/>
          <a:ln/>
        </p:spPr>
        <p:txBody>
          <a:bodyPr wrap="square" rtlCol="0" anchor="ctr"/>
          <a:lstStyle/>
          <a:p>
            <a:pPr algn="ctr" indent="0" marL="0">
              <a:buNone/>
            </a:pPr>
            <a:r>
              <a:rPr lang="en-US" sz="1000" dirty="0">
                <a:solidFill>
                  <a:srgbClr val="888888"/>
                </a:solidFill>
                <a:latin typeface="Inter" pitchFamily="34" charset="0"/>
                <a:ea typeface="Inter" pitchFamily="34" charset="-122"/>
                <a:cs typeface="Inter" pitchFamily="34" charset="-120"/>
              </a:rPr>
              <a:t>Features</a:t>
            </a:r>
            <a:endParaRPr lang="en-US" sz="1000" dirty="0"/>
          </a:p>
        </p:txBody>
      </p:sp>
      <p:sp>
        <p:nvSpPr>
          <p:cNvPr id="28" name="Shape 26"/>
          <p:cNvSpPr/>
          <p:nvPr/>
        </p:nvSpPr>
        <p:spPr>
          <a:xfrm>
            <a:off x="6693408" y="3401568"/>
            <a:ext cx="1874520" cy="1280160"/>
          </a:xfrm>
          <a:prstGeom prst="rect">
            <a:avLst>
              <a:gd name="adj" fmla="val 5714"/>
            </a:avLst>
          </a:prstGeom>
          <a:solidFill>
            <a:srgbClr val="E8E8E8"/>
          </a:solidFill>
          <a:ln/>
        </p:spPr>
      </p:sp>
      <p:sp>
        <p:nvSpPr>
          <p:cNvPr id="29" name="Shape 27"/>
          <p:cNvSpPr/>
          <p:nvPr/>
        </p:nvSpPr>
        <p:spPr>
          <a:xfrm>
            <a:off x="6675120" y="3383280"/>
            <a:ext cx="1874520" cy="1280160"/>
          </a:xfrm>
          <a:prstGeom prst="rect">
            <a:avLst>
              <a:gd name="adj" fmla="val 5714"/>
            </a:avLst>
          </a:prstGeom>
          <a:solidFill>
            <a:srgbClr val="FFFFFF"/>
          </a:solidFill>
          <a:ln w="6350">
            <a:solidFill>
              <a:srgbClr val="E0E0E0"/>
            </a:solidFill>
            <a:prstDash val="solid"/>
          </a:ln>
        </p:spPr>
      </p:sp>
      <p:sp>
        <p:nvSpPr>
          <p:cNvPr id="30" name="Shape 28"/>
          <p:cNvSpPr/>
          <p:nvPr/>
        </p:nvSpPr>
        <p:spPr>
          <a:xfrm>
            <a:off x="6675120" y="3383280"/>
            <a:ext cx="1874520" cy="45720"/>
          </a:xfrm>
          <a:prstGeom prst="rect">
            <a:avLst/>
          </a:prstGeom>
          <a:solidFill>
            <a:srgbClr val="80A4AC"/>
          </a:solidFill>
          <a:ln/>
        </p:spPr>
      </p:sp>
      <p:sp>
        <p:nvSpPr>
          <p:cNvPr id="31" name="Text 29"/>
          <p:cNvSpPr/>
          <p:nvPr/>
        </p:nvSpPr>
        <p:spPr>
          <a:xfrm>
            <a:off x="6675120" y="3520440"/>
            <a:ext cx="1874520" cy="640080"/>
          </a:xfrm>
          <a:prstGeom prst="rect">
            <a:avLst/>
          </a:prstGeom>
          <a:noFill/>
          <a:ln/>
        </p:spPr>
        <p:txBody>
          <a:bodyPr wrap="square" rtlCol="0" anchor="ctr"/>
          <a:lstStyle/>
          <a:p>
            <a:pPr algn="ctr" indent="0" marL="0">
              <a:buNone/>
            </a:pPr>
            <a:r>
              <a:rPr lang="en-US" sz="2800" b="1" dirty="0">
                <a:solidFill>
                  <a:srgbClr val="003B49"/>
                </a:solidFill>
                <a:latin typeface="Inter" pitchFamily="34" charset="0"/>
                <a:ea typeface="Inter" pitchFamily="34" charset="-122"/>
                <a:cs typeface="Inter" pitchFamily="34" charset="-120"/>
              </a:rPr>
              <a:t>2</a:t>
            </a:r>
            <a:endParaRPr lang="en-US" sz="2800" dirty="0"/>
          </a:p>
        </p:txBody>
      </p:sp>
      <p:sp>
        <p:nvSpPr>
          <p:cNvPr id="32" name="Text 30"/>
          <p:cNvSpPr/>
          <p:nvPr/>
        </p:nvSpPr>
        <p:spPr>
          <a:xfrm>
            <a:off x="6675120" y="4160520"/>
            <a:ext cx="1874520" cy="365760"/>
          </a:xfrm>
          <a:prstGeom prst="rect">
            <a:avLst/>
          </a:prstGeom>
          <a:noFill/>
          <a:ln/>
        </p:spPr>
        <p:txBody>
          <a:bodyPr wrap="square" rtlCol="0" anchor="ctr"/>
          <a:lstStyle/>
          <a:p>
            <a:pPr algn="ctr" indent="0" marL="0">
              <a:buNone/>
            </a:pPr>
            <a:r>
              <a:rPr lang="en-US" sz="1000" dirty="0">
                <a:solidFill>
                  <a:srgbClr val="888888"/>
                </a:solidFill>
                <a:latin typeface="Inter" pitchFamily="34" charset="0"/>
                <a:ea typeface="Inter" pitchFamily="34" charset="-122"/>
                <a:cs typeface="Inter" pitchFamily="34" charset="-120"/>
              </a:rPr>
              <a:t>Fixes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36576"/>
          </a:xfrm>
          <a:prstGeom prst="rect">
            <a:avLst/>
          </a:prstGeom>
          <a:solidFill>
            <a:srgbClr val="80A4AC"/>
          </a:solidFill>
          <a:ln/>
        </p:spPr>
      </p:sp>
      <p:sp>
        <p:nvSpPr>
          <p:cNvPr id="4" name="Shape 2"/>
          <p:cNvSpPr/>
          <p:nvPr/>
        </p:nvSpPr>
        <p:spPr>
          <a:xfrm>
            <a:off x="0" y="0"/>
            <a:ext cx="73152" cy="5143500"/>
          </a:xfrm>
          <a:prstGeom prst="rect">
            <a:avLst/>
          </a:prstGeom>
          <a:solidFill>
            <a:srgbClr val="003B49"/>
          </a:solidFill>
          <a:ln/>
        </p:spPr>
      </p:sp>
      <p:sp>
        <p:nvSpPr>
          <p:cNvPr id="5" name="Shape 3"/>
          <p:cNvSpPr/>
          <p:nvPr/>
        </p:nvSpPr>
        <p:spPr>
          <a:xfrm>
            <a:off x="73152" y="36576"/>
            <a:ext cx="9144000" cy="777240"/>
          </a:xfrm>
          <a:prstGeom prst="rect">
            <a:avLst/>
          </a:prstGeom>
          <a:solidFill>
            <a:srgbClr val="F8F9FA"/>
          </a:solidFill>
          <a:ln/>
        </p:spPr>
      </p:sp>
      <p:sp>
        <p:nvSpPr>
          <p:cNvPr id="6" name="Text 4"/>
          <p:cNvSpPr/>
          <p:nvPr/>
        </p:nvSpPr>
        <p:spPr>
          <a:xfrm>
            <a:off x="502920" y="137160"/>
            <a:ext cx="7772400" cy="548640"/>
          </a:xfrm>
          <a:prstGeom prst="rect">
            <a:avLst/>
          </a:prstGeom>
          <a:noFill/>
          <a:ln/>
        </p:spPr>
        <p:txBody>
          <a:bodyPr wrap="square" rtlCol="0" anchor="ctr"/>
          <a:lstStyle/>
          <a:p>
            <a:pPr indent="0" marL="0">
              <a:buNone/>
            </a:pPr>
            <a:r>
              <a:rPr lang="en-US" sz="2200" b="1" dirty="0">
                <a:solidFill>
                  <a:srgbClr val="003B49"/>
                </a:solidFill>
                <a:latin typeface="Inter" pitchFamily="34" charset="0"/>
                <a:ea typeface="Inter" pitchFamily="34" charset="-122"/>
                <a:cs typeface="Inter" pitchFamily="34" charset="-120"/>
              </a:rPr>
              <a:t>Activite</a:t>
            </a:r>
            <a:endParaRPr lang="en-US" sz="2200" dirty="0"/>
          </a:p>
        </p:txBody>
      </p:sp>
      <p:sp>
        <p:nvSpPr>
          <p:cNvPr id="7" name="Shape 5"/>
          <p:cNvSpPr/>
          <p:nvPr/>
        </p:nvSpPr>
        <p:spPr>
          <a:xfrm>
            <a:off x="502920" y="713232"/>
            <a:ext cx="1097280" cy="32004"/>
          </a:xfrm>
          <a:prstGeom prst="rect">
            <a:avLst/>
          </a:prstGeom>
          <a:solidFill>
            <a:srgbClr val="003B49"/>
          </a:solidFill>
          <a:ln/>
        </p:spPr>
      </p:sp>
      <p:sp>
        <p:nvSpPr>
          <p:cNvPr id="8" name="Shape 6"/>
          <p:cNvSpPr/>
          <p:nvPr/>
        </p:nvSpPr>
        <p:spPr>
          <a:xfrm>
            <a:off x="502920" y="6446520"/>
            <a:ext cx="8229600" cy="9144"/>
          </a:xfrm>
          <a:prstGeom prst="rect">
            <a:avLst/>
          </a:prstGeom>
          <a:solidFill>
            <a:srgbClr val="E6F0F2"/>
          </a:solidFill>
          <a:ln/>
        </p:spPr>
      </p:sp>
      <p:sp>
        <p:nvSpPr>
          <p:cNvPr id="9" name="Text 7"/>
          <p:cNvSpPr/>
          <p:nvPr/>
        </p:nvSpPr>
        <p:spPr>
          <a:xfrm>
            <a:off x="502920" y="6473952"/>
            <a:ext cx="8229600" cy="274320"/>
          </a:xfrm>
          <a:prstGeom prst="rect">
            <a:avLst/>
          </a:prstGeom>
          <a:noFill/>
          <a:ln/>
        </p:spPr>
        <p:txBody>
          <a:bodyPr wrap="square" rtlCol="0" anchor="ctr"/>
          <a:lstStyle/>
          <a:p>
            <a:pPr indent="0" marL="0">
              <a:buNone/>
            </a:pPr>
            <a:r>
              <a:rPr lang="en-US" sz="700" dirty="0">
                <a:solidFill>
                  <a:srgbClr val="888888"/>
                </a:solidFill>
                <a:latin typeface="Inter" pitchFamily="34" charset="0"/>
                <a:ea typeface="Inter" pitchFamily="34" charset="-122"/>
                <a:cs typeface="Inter" pitchFamily="34" charset="-120"/>
              </a:rPr>
              <a:t>DC Solutions  |  Confidentiel</a:t>
            </a:r>
            <a:endParaRPr lang="en-US" sz="700" dirty="0"/>
          </a:p>
        </p:txBody>
      </p:sp>
      <p:sp>
        <p:nvSpPr>
          <p:cNvPr id="10" name="Text 8"/>
          <p:cNvSpPr/>
          <p:nvPr/>
        </p:nvSpPr>
        <p:spPr>
          <a:xfrm>
            <a:off x="502920" y="1188720"/>
            <a:ext cx="1371600" cy="411480"/>
          </a:xfrm>
          <a:prstGeom prst="rect">
            <a:avLst/>
          </a:prstGeom>
          <a:noFill/>
          <a:ln/>
        </p:spPr>
        <p:txBody>
          <a:bodyPr wrap="square" rtlCol="0" anchor="ctr"/>
          <a:lstStyle/>
          <a:p>
            <a:pPr algn="r" indent="0" marL="0">
              <a:buNone/>
            </a:pPr>
            <a:r>
              <a:rPr lang="en-US" sz="1000" dirty="0">
                <a:solidFill>
                  <a:srgbClr val="1A1A1A"/>
                </a:solidFill>
                <a:latin typeface="Inter" pitchFamily="34" charset="0"/>
                <a:ea typeface="Inter" pitchFamily="34" charset="-122"/>
                <a:cs typeface="Inter" pitchFamily="34" charset="-120"/>
              </a:rPr>
              <a:t>07 févr.</a:t>
            </a:r>
            <a:endParaRPr lang="en-US" sz="1000" dirty="0"/>
          </a:p>
        </p:txBody>
      </p:sp>
      <p:sp>
        <p:nvSpPr>
          <p:cNvPr id="11" name="Shape 9"/>
          <p:cNvSpPr/>
          <p:nvPr/>
        </p:nvSpPr>
        <p:spPr>
          <a:xfrm>
            <a:off x="2011680" y="1234440"/>
            <a:ext cx="5943600" cy="320040"/>
          </a:xfrm>
          <a:prstGeom prst="rect">
            <a:avLst>
              <a:gd name="adj" fmla="val 11429"/>
            </a:avLst>
          </a:prstGeom>
          <a:solidFill>
            <a:srgbClr val="003B49"/>
          </a:solidFill>
          <a:ln/>
        </p:spPr>
      </p:sp>
      <p:sp>
        <p:nvSpPr>
          <p:cNvPr id="12" name="Text 10"/>
          <p:cNvSpPr/>
          <p:nvPr/>
        </p:nvSpPr>
        <p:spPr>
          <a:xfrm>
            <a:off x="8046720" y="1188720"/>
            <a:ext cx="2743200" cy="41148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15 commits | 164 fichiers</a:t>
            </a:r>
            <a:endParaRPr lang="en-US" sz="900" dirty="0"/>
          </a:p>
        </p:txBody>
      </p:sp>
      <p:sp>
        <p:nvSpPr>
          <p:cNvPr id="13" name="Text 11"/>
          <p:cNvSpPr/>
          <p:nvPr/>
        </p:nvSpPr>
        <p:spPr>
          <a:xfrm>
            <a:off x="502920" y="1673352"/>
            <a:ext cx="1371600" cy="411480"/>
          </a:xfrm>
          <a:prstGeom prst="rect">
            <a:avLst/>
          </a:prstGeom>
          <a:noFill/>
          <a:ln/>
        </p:spPr>
        <p:txBody>
          <a:bodyPr wrap="square" rtlCol="0" anchor="ctr"/>
          <a:lstStyle/>
          <a:p>
            <a:pPr algn="r" indent="0" marL="0">
              <a:buNone/>
            </a:pPr>
            <a:r>
              <a:rPr lang="en-US" sz="1000" dirty="0">
                <a:solidFill>
                  <a:srgbClr val="1A1A1A"/>
                </a:solidFill>
                <a:latin typeface="Inter" pitchFamily="34" charset="0"/>
                <a:ea typeface="Inter" pitchFamily="34" charset="-122"/>
                <a:cs typeface="Inter" pitchFamily="34" charset="-120"/>
              </a:rPr>
              <a:t>31 janv.</a:t>
            </a:r>
            <a:endParaRPr lang="en-US" sz="1000" dirty="0"/>
          </a:p>
        </p:txBody>
      </p:sp>
      <p:sp>
        <p:nvSpPr>
          <p:cNvPr id="14" name="Shape 12"/>
          <p:cNvSpPr/>
          <p:nvPr/>
        </p:nvSpPr>
        <p:spPr>
          <a:xfrm>
            <a:off x="2011680" y="1719072"/>
            <a:ext cx="1981200" cy="320040"/>
          </a:xfrm>
          <a:prstGeom prst="rect">
            <a:avLst>
              <a:gd name="adj" fmla="val 11429"/>
            </a:avLst>
          </a:prstGeom>
          <a:solidFill>
            <a:srgbClr val="003B49"/>
          </a:solidFill>
          <a:ln/>
        </p:spPr>
      </p:sp>
      <p:sp>
        <p:nvSpPr>
          <p:cNvPr id="15" name="Text 13"/>
          <p:cNvSpPr/>
          <p:nvPr/>
        </p:nvSpPr>
        <p:spPr>
          <a:xfrm>
            <a:off x="4084320" y="1673352"/>
            <a:ext cx="2743200" cy="41148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 commits | 132 fichiers</a:t>
            </a:r>
            <a:endParaRPr lang="en-US" sz="900" dirty="0"/>
          </a:p>
        </p:txBody>
      </p:sp>
      <p:sp>
        <p:nvSpPr>
          <p:cNvPr id="16" name="Text 14"/>
          <p:cNvSpPr/>
          <p:nvPr/>
        </p:nvSpPr>
        <p:spPr>
          <a:xfrm>
            <a:off x="502920" y="2157984"/>
            <a:ext cx="1371600" cy="411480"/>
          </a:xfrm>
          <a:prstGeom prst="rect">
            <a:avLst/>
          </a:prstGeom>
          <a:noFill/>
          <a:ln/>
        </p:spPr>
        <p:txBody>
          <a:bodyPr wrap="square" rtlCol="0" anchor="ctr"/>
          <a:lstStyle/>
          <a:p>
            <a:pPr algn="r" indent="0" marL="0">
              <a:buNone/>
            </a:pPr>
            <a:r>
              <a:rPr lang="en-US" sz="1000" dirty="0">
                <a:solidFill>
                  <a:srgbClr val="1A1A1A"/>
                </a:solidFill>
                <a:latin typeface="Inter" pitchFamily="34" charset="0"/>
                <a:ea typeface="Inter" pitchFamily="34" charset="-122"/>
                <a:cs typeface="Inter" pitchFamily="34" charset="-120"/>
              </a:rPr>
              <a:t>30 janv.</a:t>
            </a:r>
            <a:endParaRPr lang="en-US" sz="1000" dirty="0"/>
          </a:p>
        </p:txBody>
      </p:sp>
      <p:sp>
        <p:nvSpPr>
          <p:cNvPr id="17" name="Shape 15"/>
          <p:cNvSpPr/>
          <p:nvPr/>
        </p:nvSpPr>
        <p:spPr>
          <a:xfrm>
            <a:off x="2011680" y="2203704"/>
            <a:ext cx="2377440" cy="320040"/>
          </a:xfrm>
          <a:prstGeom prst="rect">
            <a:avLst>
              <a:gd name="adj" fmla="val 11429"/>
            </a:avLst>
          </a:prstGeom>
          <a:solidFill>
            <a:srgbClr val="003B49"/>
          </a:solidFill>
          <a:ln/>
        </p:spPr>
      </p:sp>
      <p:sp>
        <p:nvSpPr>
          <p:cNvPr id="18" name="Text 16"/>
          <p:cNvSpPr/>
          <p:nvPr/>
        </p:nvSpPr>
        <p:spPr>
          <a:xfrm>
            <a:off x="4480560" y="2157984"/>
            <a:ext cx="2743200" cy="41148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6 commits | 161 fichiers</a:t>
            </a:r>
            <a:endParaRPr lang="en-US" sz="900" dirty="0"/>
          </a:p>
        </p:txBody>
      </p:sp>
      <p:sp>
        <p:nvSpPr>
          <p:cNvPr id="19" name="Text 17"/>
          <p:cNvSpPr/>
          <p:nvPr/>
        </p:nvSpPr>
        <p:spPr>
          <a:xfrm>
            <a:off x="502920" y="2642616"/>
            <a:ext cx="1371600" cy="411480"/>
          </a:xfrm>
          <a:prstGeom prst="rect">
            <a:avLst/>
          </a:prstGeom>
          <a:noFill/>
          <a:ln/>
        </p:spPr>
        <p:txBody>
          <a:bodyPr wrap="square" rtlCol="0" anchor="ctr"/>
          <a:lstStyle/>
          <a:p>
            <a:pPr algn="r" indent="0" marL="0">
              <a:buNone/>
            </a:pPr>
            <a:r>
              <a:rPr lang="en-US" sz="1000" dirty="0">
                <a:solidFill>
                  <a:srgbClr val="1A1A1A"/>
                </a:solidFill>
                <a:latin typeface="Inter" pitchFamily="34" charset="0"/>
                <a:ea typeface="Inter" pitchFamily="34" charset="-122"/>
                <a:cs typeface="Inter" pitchFamily="34" charset="-120"/>
              </a:rPr>
              <a:t>16 janv.</a:t>
            </a:r>
            <a:endParaRPr lang="en-US" sz="1000" dirty="0"/>
          </a:p>
        </p:txBody>
      </p:sp>
      <p:sp>
        <p:nvSpPr>
          <p:cNvPr id="20" name="Shape 18"/>
          <p:cNvSpPr/>
          <p:nvPr/>
        </p:nvSpPr>
        <p:spPr>
          <a:xfrm>
            <a:off x="2011680" y="2688336"/>
            <a:ext cx="1188720" cy="320040"/>
          </a:xfrm>
          <a:prstGeom prst="rect">
            <a:avLst>
              <a:gd name="adj" fmla="val 11429"/>
            </a:avLst>
          </a:prstGeom>
          <a:solidFill>
            <a:srgbClr val="003B49"/>
          </a:solidFill>
          <a:ln/>
        </p:spPr>
      </p:sp>
      <p:sp>
        <p:nvSpPr>
          <p:cNvPr id="21" name="Text 19"/>
          <p:cNvSpPr/>
          <p:nvPr/>
        </p:nvSpPr>
        <p:spPr>
          <a:xfrm>
            <a:off x="3291840" y="2642616"/>
            <a:ext cx="2743200" cy="41148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 commits | 574 fichiers</a:t>
            </a:r>
            <a:endParaRPr lang="en-US" sz="900" dirty="0"/>
          </a:p>
        </p:txBody>
      </p:sp>
      <p:sp>
        <p:nvSpPr>
          <p:cNvPr id="22" name="Text 20"/>
          <p:cNvSpPr/>
          <p:nvPr/>
        </p:nvSpPr>
        <p:spPr>
          <a:xfrm>
            <a:off x="502920" y="3127248"/>
            <a:ext cx="1371600" cy="411480"/>
          </a:xfrm>
          <a:prstGeom prst="rect">
            <a:avLst/>
          </a:prstGeom>
          <a:noFill/>
          <a:ln/>
        </p:spPr>
        <p:txBody>
          <a:bodyPr wrap="square" rtlCol="0" anchor="ctr"/>
          <a:lstStyle/>
          <a:p>
            <a:pPr algn="r" indent="0" marL="0">
              <a:buNone/>
            </a:pPr>
            <a:r>
              <a:rPr lang="en-US" sz="1000" dirty="0">
                <a:solidFill>
                  <a:srgbClr val="1A1A1A"/>
                </a:solidFill>
                <a:latin typeface="Inter" pitchFamily="34" charset="0"/>
                <a:ea typeface="Inter" pitchFamily="34" charset="-122"/>
                <a:cs typeface="Inter" pitchFamily="34" charset="-120"/>
              </a:rPr>
              <a:t>14 janv.</a:t>
            </a:r>
            <a:endParaRPr lang="en-US" sz="1000" dirty="0"/>
          </a:p>
        </p:txBody>
      </p:sp>
      <p:sp>
        <p:nvSpPr>
          <p:cNvPr id="23" name="Shape 21"/>
          <p:cNvSpPr/>
          <p:nvPr/>
        </p:nvSpPr>
        <p:spPr>
          <a:xfrm>
            <a:off x="2011680" y="3172968"/>
            <a:ext cx="396240" cy="320040"/>
          </a:xfrm>
          <a:prstGeom prst="rect">
            <a:avLst>
              <a:gd name="adj" fmla="val 11429"/>
            </a:avLst>
          </a:prstGeom>
          <a:solidFill>
            <a:srgbClr val="003B49"/>
          </a:solidFill>
          <a:ln/>
        </p:spPr>
      </p:sp>
      <p:sp>
        <p:nvSpPr>
          <p:cNvPr id="24" name="Text 22"/>
          <p:cNvSpPr/>
          <p:nvPr/>
        </p:nvSpPr>
        <p:spPr>
          <a:xfrm>
            <a:off x="2499360" y="3127248"/>
            <a:ext cx="2743200" cy="41148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 commit | 1 fichier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36576"/>
          </a:xfrm>
          <a:prstGeom prst="rect">
            <a:avLst/>
          </a:prstGeom>
          <a:solidFill>
            <a:srgbClr val="80A4AC"/>
          </a:solidFill>
          <a:ln/>
        </p:spPr>
      </p:sp>
      <p:sp>
        <p:nvSpPr>
          <p:cNvPr id="4" name="Shape 2"/>
          <p:cNvSpPr/>
          <p:nvPr/>
        </p:nvSpPr>
        <p:spPr>
          <a:xfrm>
            <a:off x="0" y="0"/>
            <a:ext cx="73152" cy="5143500"/>
          </a:xfrm>
          <a:prstGeom prst="rect">
            <a:avLst/>
          </a:prstGeom>
          <a:solidFill>
            <a:srgbClr val="003B49"/>
          </a:solidFill>
          <a:ln/>
        </p:spPr>
      </p:sp>
      <p:sp>
        <p:nvSpPr>
          <p:cNvPr id="5" name="Shape 3"/>
          <p:cNvSpPr/>
          <p:nvPr/>
        </p:nvSpPr>
        <p:spPr>
          <a:xfrm>
            <a:off x="73152" y="36576"/>
            <a:ext cx="9144000" cy="777240"/>
          </a:xfrm>
          <a:prstGeom prst="rect">
            <a:avLst/>
          </a:prstGeom>
          <a:solidFill>
            <a:srgbClr val="F8F9FA"/>
          </a:solidFill>
          <a:ln/>
        </p:spPr>
      </p:sp>
      <p:sp>
        <p:nvSpPr>
          <p:cNvPr id="6" name="Text 4"/>
          <p:cNvSpPr/>
          <p:nvPr/>
        </p:nvSpPr>
        <p:spPr>
          <a:xfrm>
            <a:off x="502920" y="137160"/>
            <a:ext cx="7772400" cy="548640"/>
          </a:xfrm>
          <a:prstGeom prst="rect">
            <a:avLst/>
          </a:prstGeom>
          <a:noFill/>
          <a:ln/>
        </p:spPr>
        <p:txBody>
          <a:bodyPr wrap="square" rtlCol="0" anchor="ctr"/>
          <a:lstStyle/>
          <a:p>
            <a:pPr indent="0" marL="0">
              <a:buNone/>
            </a:pPr>
            <a:r>
              <a:rPr lang="en-US" sz="2200" b="1" dirty="0">
                <a:solidFill>
                  <a:srgbClr val="003B49"/>
                </a:solidFill>
                <a:latin typeface="Inter" pitchFamily="34" charset="0"/>
                <a:ea typeface="Inter" pitchFamily="34" charset="-122"/>
                <a:cs typeface="Inter" pitchFamily="34" charset="-120"/>
              </a:rPr>
              <a:t>Changements par Categorie</a:t>
            </a:r>
            <a:endParaRPr lang="en-US" sz="2200" dirty="0"/>
          </a:p>
        </p:txBody>
      </p:sp>
      <p:sp>
        <p:nvSpPr>
          <p:cNvPr id="7" name="Shape 5"/>
          <p:cNvSpPr/>
          <p:nvPr/>
        </p:nvSpPr>
        <p:spPr>
          <a:xfrm>
            <a:off x="502920" y="713232"/>
            <a:ext cx="1097280" cy="32004"/>
          </a:xfrm>
          <a:prstGeom prst="rect">
            <a:avLst/>
          </a:prstGeom>
          <a:solidFill>
            <a:srgbClr val="003B49"/>
          </a:solidFill>
          <a:ln/>
        </p:spPr>
      </p:sp>
      <p:sp>
        <p:nvSpPr>
          <p:cNvPr id="8" name="Shape 6"/>
          <p:cNvSpPr/>
          <p:nvPr/>
        </p:nvSpPr>
        <p:spPr>
          <a:xfrm>
            <a:off x="502920" y="6446520"/>
            <a:ext cx="8229600" cy="9144"/>
          </a:xfrm>
          <a:prstGeom prst="rect">
            <a:avLst/>
          </a:prstGeom>
          <a:solidFill>
            <a:srgbClr val="E6F0F2"/>
          </a:solidFill>
          <a:ln/>
        </p:spPr>
      </p:sp>
      <p:sp>
        <p:nvSpPr>
          <p:cNvPr id="9" name="Text 7"/>
          <p:cNvSpPr/>
          <p:nvPr/>
        </p:nvSpPr>
        <p:spPr>
          <a:xfrm>
            <a:off x="502920" y="6473952"/>
            <a:ext cx="8229600" cy="274320"/>
          </a:xfrm>
          <a:prstGeom prst="rect">
            <a:avLst/>
          </a:prstGeom>
          <a:noFill/>
          <a:ln/>
        </p:spPr>
        <p:txBody>
          <a:bodyPr wrap="square" rtlCol="0" anchor="ctr"/>
          <a:lstStyle/>
          <a:p>
            <a:pPr indent="0" marL="0">
              <a:buNone/>
            </a:pPr>
            <a:r>
              <a:rPr lang="en-US" sz="700" dirty="0">
                <a:solidFill>
                  <a:srgbClr val="888888"/>
                </a:solidFill>
                <a:latin typeface="Inter" pitchFamily="34" charset="0"/>
                <a:ea typeface="Inter" pitchFamily="34" charset="-122"/>
                <a:cs typeface="Inter" pitchFamily="34" charset="-120"/>
              </a:rPr>
              <a:t>DC Solutions  |  Confidentiel</a:t>
            </a:r>
            <a:endParaRPr lang="en-US" sz="700" dirty="0"/>
          </a:p>
        </p:txBody>
      </p:sp>
      <p:sp>
        <p:nvSpPr>
          <p:cNvPr id="10" name="Text 8"/>
          <p:cNvSpPr/>
          <p:nvPr/>
        </p:nvSpPr>
        <p:spPr>
          <a:xfrm>
            <a:off x="502920" y="1188720"/>
            <a:ext cx="2560320" cy="502920"/>
          </a:xfrm>
          <a:prstGeom prst="rect">
            <a:avLst/>
          </a:prstGeom>
          <a:noFill/>
          <a:ln/>
        </p:spPr>
        <p:txBody>
          <a:bodyPr wrap="square" rtlCol="0" anchor="ctr"/>
          <a:lstStyle/>
          <a:p>
            <a:pPr algn="r" indent="0" marL="0">
              <a:buNone/>
            </a:pPr>
            <a:r>
              <a:rPr lang="en-US" sz="1000" b="1" dirty="0">
                <a:solidFill>
                  <a:srgbClr val="1A1A1A"/>
                </a:solidFill>
                <a:latin typeface="Inter" pitchFamily="34" charset="0"/>
                <a:ea typeface="Inter" pitchFamily="34" charset="-122"/>
                <a:cs typeface="Inter" pitchFamily="34" charset="-120"/>
              </a:rPr>
              <a:t>Nouvelles Fonctionnalites</a:t>
            </a:r>
            <a:endParaRPr lang="en-US" sz="1000" dirty="0"/>
          </a:p>
        </p:txBody>
      </p:sp>
      <p:sp>
        <p:nvSpPr>
          <p:cNvPr id="11" name="Shape 9"/>
          <p:cNvSpPr/>
          <p:nvPr/>
        </p:nvSpPr>
        <p:spPr>
          <a:xfrm>
            <a:off x="3200400" y="1261872"/>
            <a:ext cx="5029200" cy="356616"/>
          </a:xfrm>
          <a:prstGeom prst="rect">
            <a:avLst>
              <a:gd name="adj" fmla="val 10256"/>
            </a:avLst>
          </a:prstGeom>
          <a:solidFill>
            <a:srgbClr val="003B49"/>
          </a:solidFill>
          <a:ln/>
        </p:spPr>
      </p:sp>
      <p:sp>
        <p:nvSpPr>
          <p:cNvPr id="12" name="Text 10"/>
          <p:cNvSpPr/>
          <p:nvPr/>
        </p:nvSpPr>
        <p:spPr>
          <a:xfrm>
            <a:off x="8321040" y="1188720"/>
            <a:ext cx="914400" cy="50292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24</a:t>
            </a:r>
            <a:endParaRPr lang="en-US" sz="1200" dirty="0"/>
          </a:p>
        </p:txBody>
      </p:sp>
      <p:sp>
        <p:nvSpPr>
          <p:cNvPr id="13" name="Text 11"/>
          <p:cNvSpPr/>
          <p:nvPr/>
        </p:nvSpPr>
        <p:spPr>
          <a:xfrm>
            <a:off x="502920" y="1801368"/>
            <a:ext cx="2560320" cy="502920"/>
          </a:xfrm>
          <a:prstGeom prst="rect">
            <a:avLst/>
          </a:prstGeom>
          <a:noFill/>
          <a:ln/>
        </p:spPr>
        <p:txBody>
          <a:bodyPr wrap="square" rtlCol="0" anchor="ctr"/>
          <a:lstStyle/>
          <a:p>
            <a:pPr algn="r" indent="0" marL="0">
              <a:buNone/>
            </a:pPr>
            <a:r>
              <a:rPr lang="en-US" sz="1000" b="1" dirty="0">
                <a:solidFill>
                  <a:srgbClr val="1A1A1A"/>
                </a:solidFill>
                <a:latin typeface="Inter" pitchFamily="34" charset="0"/>
                <a:ea typeface="Inter" pitchFamily="34" charset="-122"/>
                <a:cs typeface="Inter" pitchFamily="34" charset="-120"/>
              </a:rPr>
              <a:t>Maintenance</a:t>
            </a:r>
            <a:endParaRPr lang="en-US" sz="1000" dirty="0"/>
          </a:p>
        </p:txBody>
      </p:sp>
      <p:sp>
        <p:nvSpPr>
          <p:cNvPr id="14" name="Shape 12"/>
          <p:cNvSpPr/>
          <p:nvPr/>
        </p:nvSpPr>
        <p:spPr>
          <a:xfrm>
            <a:off x="3200400" y="1874520"/>
            <a:ext cx="628650" cy="356616"/>
          </a:xfrm>
          <a:prstGeom prst="rect">
            <a:avLst>
              <a:gd name="adj" fmla="val 10256"/>
            </a:avLst>
          </a:prstGeom>
          <a:solidFill>
            <a:srgbClr val="80A4AC"/>
          </a:solidFill>
          <a:ln/>
        </p:spPr>
      </p:sp>
      <p:sp>
        <p:nvSpPr>
          <p:cNvPr id="15" name="Text 13"/>
          <p:cNvSpPr/>
          <p:nvPr/>
        </p:nvSpPr>
        <p:spPr>
          <a:xfrm>
            <a:off x="3920490" y="1801368"/>
            <a:ext cx="914400" cy="50292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3</a:t>
            </a:r>
            <a:endParaRPr lang="en-US" sz="1200" dirty="0"/>
          </a:p>
        </p:txBody>
      </p:sp>
      <p:sp>
        <p:nvSpPr>
          <p:cNvPr id="16" name="Text 14"/>
          <p:cNvSpPr/>
          <p:nvPr/>
        </p:nvSpPr>
        <p:spPr>
          <a:xfrm>
            <a:off x="502920" y="2414016"/>
            <a:ext cx="2560320" cy="502920"/>
          </a:xfrm>
          <a:prstGeom prst="rect">
            <a:avLst/>
          </a:prstGeom>
          <a:noFill/>
          <a:ln/>
        </p:spPr>
        <p:txBody>
          <a:bodyPr wrap="square" rtlCol="0" anchor="ctr"/>
          <a:lstStyle/>
          <a:p>
            <a:pPr algn="r" indent="0" marL="0">
              <a:buNone/>
            </a:pPr>
            <a:r>
              <a:rPr lang="en-US" sz="1000" b="1" dirty="0">
                <a:solidFill>
                  <a:srgbClr val="1A1A1A"/>
                </a:solidFill>
                <a:latin typeface="Inter" pitchFamily="34" charset="0"/>
                <a:ea typeface="Inter" pitchFamily="34" charset="-122"/>
                <a:cs typeface="Inter" pitchFamily="34" charset="-120"/>
              </a:rPr>
              <a:t>Corrections de Bugs</a:t>
            </a:r>
            <a:endParaRPr lang="en-US" sz="1000" dirty="0"/>
          </a:p>
        </p:txBody>
      </p:sp>
      <p:sp>
        <p:nvSpPr>
          <p:cNvPr id="17" name="Shape 15"/>
          <p:cNvSpPr/>
          <p:nvPr/>
        </p:nvSpPr>
        <p:spPr>
          <a:xfrm>
            <a:off x="3200400" y="2487168"/>
            <a:ext cx="419100" cy="356616"/>
          </a:xfrm>
          <a:prstGeom prst="rect">
            <a:avLst>
              <a:gd name="adj" fmla="val 10256"/>
            </a:avLst>
          </a:prstGeom>
          <a:solidFill>
            <a:srgbClr val="1A1A1A"/>
          </a:solidFill>
          <a:ln/>
        </p:spPr>
      </p:sp>
      <p:sp>
        <p:nvSpPr>
          <p:cNvPr id="18" name="Text 16"/>
          <p:cNvSpPr/>
          <p:nvPr/>
        </p:nvSpPr>
        <p:spPr>
          <a:xfrm>
            <a:off x="3710940" y="2414016"/>
            <a:ext cx="914400" cy="50292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2</a:t>
            </a:r>
            <a:endParaRPr lang="en-US" sz="1200" dirty="0"/>
          </a:p>
        </p:txBody>
      </p:sp>
      <p:sp>
        <p:nvSpPr>
          <p:cNvPr id="19" name="Text 17"/>
          <p:cNvSpPr/>
          <p:nvPr/>
        </p:nvSpPr>
        <p:spPr>
          <a:xfrm>
            <a:off x="502920" y="3026664"/>
            <a:ext cx="2560320" cy="502920"/>
          </a:xfrm>
          <a:prstGeom prst="rect">
            <a:avLst/>
          </a:prstGeom>
          <a:noFill/>
          <a:ln/>
        </p:spPr>
        <p:txBody>
          <a:bodyPr wrap="square" rtlCol="0" anchor="ctr"/>
          <a:lstStyle/>
          <a:p>
            <a:pPr algn="r" indent="0" marL="0">
              <a:buNone/>
            </a:pPr>
            <a:r>
              <a:rPr lang="en-US" sz="1000" b="1" dirty="0">
                <a:solidFill>
                  <a:srgbClr val="1A1A1A"/>
                </a:solidFill>
                <a:latin typeface="Inter" pitchFamily="34" charset="0"/>
                <a:ea typeface="Inter" pitchFamily="34" charset="-122"/>
                <a:cs typeface="Inter" pitchFamily="34" charset="-120"/>
              </a:rPr>
              <a:t>Documentation</a:t>
            </a:r>
            <a:endParaRPr lang="en-US" sz="1000" dirty="0"/>
          </a:p>
        </p:txBody>
      </p:sp>
      <p:sp>
        <p:nvSpPr>
          <p:cNvPr id="20" name="Shape 18"/>
          <p:cNvSpPr/>
          <p:nvPr/>
        </p:nvSpPr>
        <p:spPr>
          <a:xfrm>
            <a:off x="3200400" y="3099816"/>
            <a:ext cx="365760" cy="356616"/>
          </a:xfrm>
          <a:prstGeom prst="rect">
            <a:avLst>
              <a:gd name="adj" fmla="val 10256"/>
            </a:avLst>
          </a:prstGeom>
          <a:solidFill>
            <a:srgbClr val="003B49"/>
          </a:solidFill>
          <a:ln/>
        </p:spPr>
      </p:sp>
      <p:sp>
        <p:nvSpPr>
          <p:cNvPr id="21" name="Text 19"/>
          <p:cNvSpPr/>
          <p:nvPr/>
        </p:nvSpPr>
        <p:spPr>
          <a:xfrm>
            <a:off x="3657600" y="3026664"/>
            <a:ext cx="914400" cy="50292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36576"/>
          </a:xfrm>
          <a:prstGeom prst="rect">
            <a:avLst/>
          </a:prstGeom>
          <a:solidFill>
            <a:srgbClr val="80A4AC"/>
          </a:solidFill>
          <a:ln/>
        </p:spPr>
      </p:sp>
      <p:sp>
        <p:nvSpPr>
          <p:cNvPr id="4" name="Shape 2"/>
          <p:cNvSpPr/>
          <p:nvPr/>
        </p:nvSpPr>
        <p:spPr>
          <a:xfrm>
            <a:off x="0" y="0"/>
            <a:ext cx="73152" cy="5143500"/>
          </a:xfrm>
          <a:prstGeom prst="rect">
            <a:avLst/>
          </a:prstGeom>
          <a:solidFill>
            <a:srgbClr val="003B49"/>
          </a:solidFill>
          <a:ln/>
        </p:spPr>
      </p:sp>
      <p:sp>
        <p:nvSpPr>
          <p:cNvPr id="5" name="Shape 3"/>
          <p:cNvSpPr/>
          <p:nvPr/>
        </p:nvSpPr>
        <p:spPr>
          <a:xfrm>
            <a:off x="73152" y="36576"/>
            <a:ext cx="9144000" cy="777240"/>
          </a:xfrm>
          <a:prstGeom prst="rect">
            <a:avLst/>
          </a:prstGeom>
          <a:solidFill>
            <a:srgbClr val="F8F9FA"/>
          </a:solidFill>
          <a:ln/>
        </p:spPr>
      </p:sp>
      <p:sp>
        <p:nvSpPr>
          <p:cNvPr id="6" name="Text 4"/>
          <p:cNvSpPr/>
          <p:nvPr/>
        </p:nvSpPr>
        <p:spPr>
          <a:xfrm>
            <a:off x="502920" y="137160"/>
            <a:ext cx="7772400" cy="548640"/>
          </a:xfrm>
          <a:prstGeom prst="rect">
            <a:avLst/>
          </a:prstGeom>
          <a:noFill/>
          <a:ln/>
        </p:spPr>
        <p:txBody>
          <a:bodyPr wrap="square" rtlCol="0" anchor="ctr"/>
          <a:lstStyle/>
          <a:p>
            <a:pPr indent="0" marL="0">
              <a:buNone/>
            </a:pPr>
            <a:r>
              <a:rPr lang="en-US" sz="2200" b="1" dirty="0">
                <a:solidFill>
                  <a:srgbClr val="003B49"/>
                </a:solidFill>
                <a:latin typeface="Inter" pitchFamily="34" charset="0"/>
                <a:ea typeface="Inter" pitchFamily="34" charset="-122"/>
                <a:cs typeface="Inter" pitchFamily="34" charset="-120"/>
              </a:rPr>
              <a:t>Points Saillants</a:t>
            </a:r>
            <a:endParaRPr lang="en-US" sz="2200" dirty="0"/>
          </a:p>
        </p:txBody>
      </p:sp>
      <p:sp>
        <p:nvSpPr>
          <p:cNvPr id="7" name="Shape 5"/>
          <p:cNvSpPr/>
          <p:nvPr/>
        </p:nvSpPr>
        <p:spPr>
          <a:xfrm>
            <a:off x="502920" y="713232"/>
            <a:ext cx="1097280" cy="32004"/>
          </a:xfrm>
          <a:prstGeom prst="rect">
            <a:avLst/>
          </a:prstGeom>
          <a:solidFill>
            <a:srgbClr val="003B49"/>
          </a:solidFill>
          <a:ln/>
        </p:spPr>
      </p:sp>
      <p:sp>
        <p:nvSpPr>
          <p:cNvPr id="8" name="Shape 6"/>
          <p:cNvSpPr/>
          <p:nvPr/>
        </p:nvSpPr>
        <p:spPr>
          <a:xfrm>
            <a:off x="502920" y="6446520"/>
            <a:ext cx="8229600" cy="9144"/>
          </a:xfrm>
          <a:prstGeom prst="rect">
            <a:avLst/>
          </a:prstGeom>
          <a:solidFill>
            <a:srgbClr val="E6F0F2"/>
          </a:solidFill>
          <a:ln/>
        </p:spPr>
      </p:sp>
      <p:sp>
        <p:nvSpPr>
          <p:cNvPr id="9" name="Text 7"/>
          <p:cNvSpPr/>
          <p:nvPr/>
        </p:nvSpPr>
        <p:spPr>
          <a:xfrm>
            <a:off x="502920" y="6473952"/>
            <a:ext cx="8229600" cy="274320"/>
          </a:xfrm>
          <a:prstGeom prst="rect">
            <a:avLst/>
          </a:prstGeom>
          <a:noFill/>
          <a:ln/>
        </p:spPr>
        <p:txBody>
          <a:bodyPr wrap="square" rtlCol="0" anchor="ctr"/>
          <a:lstStyle/>
          <a:p>
            <a:pPr indent="0" marL="0">
              <a:buNone/>
            </a:pPr>
            <a:r>
              <a:rPr lang="en-US" sz="700" dirty="0">
                <a:solidFill>
                  <a:srgbClr val="888888"/>
                </a:solidFill>
                <a:latin typeface="Inter" pitchFamily="34" charset="0"/>
                <a:ea typeface="Inter" pitchFamily="34" charset="-122"/>
                <a:cs typeface="Inter" pitchFamily="34" charset="-120"/>
              </a:rPr>
              <a:t>DC Solutions  |  Confidentiel</a:t>
            </a:r>
            <a:endParaRPr lang="en-US" sz="700" dirty="0"/>
          </a:p>
        </p:txBody>
      </p:sp>
      <p:sp>
        <p:nvSpPr>
          <p:cNvPr id="10" name="Shape 8"/>
          <p:cNvSpPr/>
          <p:nvPr/>
        </p:nvSpPr>
        <p:spPr>
          <a:xfrm>
            <a:off x="521208" y="1069848"/>
            <a:ext cx="3931920" cy="1371600"/>
          </a:xfrm>
          <a:prstGeom prst="rect">
            <a:avLst>
              <a:gd name="adj" fmla="val 5333"/>
            </a:avLst>
          </a:prstGeom>
          <a:solidFill>
            <a:srgbClr val="E8E8E8"/>
          </a:solidFill>
          <a:ln/>
        </p:spPr>
      </p:sp>
      <p:sp>
        <p:nvSpPr>
          <p:cNvPr id="11" name="Shape 9"/>
          <p:cNvSpPr/>
          <p:nvPr/>
        </p:nvSpPr>
        <p:spPr>
          <a:xfrm>
            <a:off x="502920" y="1051560"/>
            <a:ext cx="3931920" cy="1371600"/>
          </a:xfrm>
          <a:prstGeom prst="rect">
            <a:avLst>
              <a:gd name="adj" fmla="val 5333"/>
            </a:avLst>
          </a:prstGeom>
          <a:solidFill>
            <a:srgbClr val="FFFFFF"/>
          </a:solidFill>
          <a:ln w="6350">
            <a:solidFill>
              <a:srgbClr val="E0E0E0"/>
            </a:solidFill>
            <a:prstDash val="solid"/>
          </a:ln>
        </p:spPr>
      </p:sp>
      <p:sp>
        <p:nvSpPr>
          <p:cNvPr id="12" name="Shape 10"/>
          <p:cNvSpPr/>
          <p:nvPr/>
        </p:nvSpPr>
        <p:spPr>
          <a:xfrm>
            <a:off x="502920" y="1051560"/>
            <a:ext cx="3931920" cy="45720"/>
          </a:xfrm>
          <a:prstGeom prst="rect">
            <a:avLst/>
          </a:prstGeom>
          <a:solidFill>
            <a:srgbClr val="003B49"/>
          </a:solidFill>
          <a:ln/>
        </p:spPr>
      </p:sp>
      <p:sp>
        <p:nvSpPr>
          <p:cNvPr id="13" name="Text 11"/>
          <p:cNvSpPr/>
          <p:nvPr/>
        </p:nvSpPr>
        <p:spPr>
          <a:xfrm>
            <a:off x="685800" y="1188720"/>
            <a:ext cx="3566160" cy="32004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Pipeline de Gestion Documentaire</a:t>
            </a:r>
            <a:endParaRPr lang="en-US" sz="1200" dirty="0"/>
          </a:p>
        </p:txBody>
      </p:sp>
      <p:sp>
        <p:nvSpPr>
          <p:cNvPr id="14" name="Text 12"/>
          <p:cNvSpPr/>
          <p:nvPr/>
        </p:nvSpPr>
        <p:spPr>
          <a:xfrm>
            <a:off x="685800" y="1554480"/>
            <a:ext cx="3566160" cy="777240"/>
          </a:xfrm>
          <a:prstGeom prst="rect">
            <a:avLst/>
          </a:prstGeom>
          <a:noFill/>
          <a:ln/>
        </p:spPr>
        <p:txBody>
          <a:bodyPr wrap="square" rtlCol="0" anchor="t"/>
          <a:lstStyle/>
          <a:p>
            <a:pPr indent="0" marL="0">
              <a:lnSpc>
                <a:spcPts val="1700"/>
              </a:lnSpc>
              <a:buNone/>
            </a:pPr>
            <a:r>
              <a:rPr lang="en-US" sz="1000" dirty="0">
                <a:solidFill>
                  <a:srgbClr val="1A1A1A"/>
                </a:solidFill>
                <a:latin typeface="Inter" pitchFamily="34" charset="0"/>
                <a:ea typeface="Inter" pitchFamily="34" charset="-122"/>
                <a:cs typeface="Inter" pitchFamily="34" charset="-120"/>
              </a:rPr>
              <a:t>Implementation complete du workflow d'upload PDF avec drag-and-drop, extraction de texte, et gestion de documents (ajout, liste, suppression). Interface utilisateur intuitive avec composants reutilisables.</a:t>
            </a:r>
            <a:endParaRPr lang="en-US" sz="1000" dirty="0"/>
          </a:p>
        </p:txBody>
      </p:sp>
      <p:sp>
        <p:nvSpPr>
          <p:cNvPr id="15" name="Shape 13"/>
          <p:cNvSpPr/>
          <p:nvPr/>
        </p:nvSpPr>
        <p:spPr>
          <a:xfrm>
            <a:off x="4727448" y="1069848"/>
            <a:ext cx="3931920" cy="1371600"/>
          </a:xfrm>
          <a:prstGeom prst="rect">
            <a:avLst>
              <a:gd name="adj" fmla="val 5333"/>
            </a:avLst>
          </a:prstGeom>
          <a:solidFill>
            <a:srgbClr val="E8E8E8"/>
          </a:solidFill>
          <a:ln/>
        </p:spPr>
      </p:sp>
      <p:sp>
        <p:nvSpPr>
          <p:cNvPr id="16" name="Shape 14"/>
          <p:cNvSpPr/>
          <p:nvPr/>
        </p:nvSpPr>
        <p:spPr>
          <a:xfrm>
            <a:off x="4709160" y="1051560"/>
            <a:ext cx="3931920" cy="1371600"/>
          </a:xfrm>
          <a:prstGeom prst="rect">
            <a:avLst>
              <a:gd name="adj" fmla="val 5333"/>
            </a:avLst>
          </a:prstGeom>
          <a:solidFill>
            <a:srgbClr val="FFFFFF"/>
          </a:solidFill>
          <a:ln w="6350">
            <a:solidFill>
              <a:srgbClr val="E0E0E0"/>
            </a:solidFill>
            <a:prstDash val="solid"/>
          </a:ln>
        </p:spPr>
      </p:sp>
      <p:sp>
        <p:nvSpPr>
          <p:cNvPr id="17" name="Shape 15"/>
          <p:cNvSpPr/>
          <p:nvPr/>
        </p:nvSpPr>
        <p:spPr>
          <a:xfrm>
            <a:off x="4709160" y="1051560"/>
            <a:ext cx="3931920" cy="45720"/>
          </a:xfrm>
          <a:prstGeom prst="rect">
            <a:avLst/>
          </a:prstGeom>
          <a:solidFill>
            <a:srgbClr val="80A4AC"/>
          </a:solidFill>
          <a:ln/>
        </p:spPr>
      </p:sp>
      <p:sp>
        <p:nvSpPr>
          <p:cNvPr id="18" name="Text 16"/>
          <p:cNvSpPr/>
          <p:nvPr/>
        </p:nvSpPr>
        <p:spPr>
          <a:xfrm>
            <a:off x="4892040" y="1188720"/>
            <a:ext cx="3566160" cy="32004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Generation de Revue de Litterature par IA</a:t>
            </a:r>
            <a:endParaRPr lang="en-US" sz="1200" dirty="0"/>
          </a:p>
        </p:txBody>
      </p:sp>
      <p:sp>
        <p:nvSpPr>
          <p:cNvPr id="19" name="Text 17"/>
          <p:cNvSpPr/>
          <p:nvPr/>
        </p:nvSpPr>
        <p:spPr>
          <a:xfrm>
            <a:off x="4892040" y="1554480"/>
            <a:ext cx="3566160" cy="777240"/>
          </a:xfrm>
          <a:prstGeom prst="rect">
            <a:avLst/>
          </a:prstGeom>
          <a:noFill/>
          <a:ln/>
        </p:spPr>
        <p:txBody>
          <a:bodyPr wrap="square" rtlCol="0" anchor="t"/>
          <a:lstStyle/>
          <a:p>
            <a:pPr indent="0" marL="0">
              <a:lnSpc>
                <a:spcPts val="1700"/>
              </a:lnSpc>
              <a:buNone/>
            </a:pPr>
            <a:r>
              <a:rPr lang="en-US" sz="1000" dirty="0">
                <a:solidFill>
                  <a:srgbClr val="1A1A1A"/>
                </a:solidFill>
                <a:latin typeface="Inter" pitchFamily="34" charset="0"/>
                <a:ea typeface="Inter" pitchFamily="34" charset="-122"/>
                <a:cs typeface="Inter" pitchFamily="34" charset="-120"/>
              </a:rPr>
              <a:t>Integration d'Anthropic Claude pour la generation automatisee de revues de litterature. Inclut le systeme de jobs BullMQ, le suivi de progression en temps reel par WebSocket, et la tracabilite des citations sources.</a:t>
            </a:r>
            <a:endParaRPr lang="en-US" sz="1000" dirty="0"/>
          </a:p>
        </p:txBody>
      </p:sp>
      <p:sp>
        <p:nvSpPr>
          <p:cNvPr id="20" name="Shape 18"/>
          <p:cNvSpPr/>
          <p:nvPr/>
        </p:nvSpPr>
        <p:spPr>
          <a:xfrm>
            <a:off x="521208" y="2670048"/>
            <a:ext cx="3931920" cy="1371600"/>
          </a:xfrm>
          <a:prstGeom prst="rect">
            <a:avLst>
              <a:gd name="adj" fmla="val 5333"/>
            </a:avLst>
          </a:prstGeom>
          <a:solidFill>
            <a:srgbClr val="E8E8E8"/>
          </a:solidFill>
          <a:ln/>
        </p:spPr>
      </p:sp>
      <p:sp>
        <p:nvSpPr>
          <p:cNvPr id="21" name="Shape 19"/>
          <p:cNvSpPr/>
          <p:nvPr/>
        </p:nvSpPr>
        <p:spPr>
          <a:xfrm>
            <a:off x="502920" y="2651760"/>
            <a:ext cx="3931920" cy="1371600"/>
          </a:xfrm>
          <a:prstGeom prst="rect">
            <a:avLst>
              <a:gd name="adj" fmla="val 5333"/>
            </a:avLst>
          </a:prstGeom>
          <a:solidFill>
            <a:srgbClr val="FFFFFF"/>
          </a:solidFill>
          <a:ln w="6350">
            <a:solidFill>
              <a:srgbClr val="E0E0E0"/>
            </a:solidFill>
            <a:prstDash val="solid"/>
          </a:ln>
        </p:spPr>
      </p:sp>
      <p:sp>
        <p:nvSpPr>
          <p:cNvPr id="22" name="Shape 20"/>
          <p:cNvSpPr/>
          <p:nvPr/>
        </p:nvSpPr>
        <p:spPr>
          <a:xfrm>
            <a:off x="502920" y="2651760"/>
            <a:ext cx="3931920" cy="45720"/>
          </a:xfrm>
          <a:prstGeom prst="rect">
            <a:avLst/>
          </a:prstGeom>
          <a:solidFill>
            <a:srgbClr val="003B49"/>
          </a:solidFill>
          <a:ln/>
        </p:spPr>
      </p:sp>
      <p:sp>
        <p:nvSpPr>
          <p:cNvPr id="23" name="Text 21"/>
          <p:cNvSpPr/>
          <p:nvPr/>
        </p:nvSpPr>
        <p:spPr>
          <a:xfrm>
            <a:off x="685800" y="2788920"/>
            <a:ext cx="3566160" cy="32004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Viewer PDF et Navigation Citations</a:t>
            </a:r>
            <a:endParaRPr lang="en-US" sz="1200" dirty="0"/>
          </a:p>
        </p:txBody>
      </p:sp>
      <p:sp>
        <p:nvSpPr>
          <p:cNvPr id="24" name="Text 22"/>
          <p:cNvSpPr/>
          <p:nvPr/>
        </p:nvSpPr>
        <p:spPr>
          <a:xfrm>
            <a:off x="685800" y="3154680"/>
            <a:ext cx="3566160" cy="777240"/>
          </a:xfrm>
          <a:prstGeom prst="rect">
            <a:avLst/>
          </a:prstGeom>
          <a:noFill/>
          <a:ln/>
        </p:spPr>
        <p:txBody>
          <a:bodyPr wrap="square" rtlCol="0" anchor="t"/>
          <a:lstStyle/>
          <a:p>
            <a:pPr indent="0" marL="0">
              <a:lnSpc>
                <a:spcPts val="1700"/>
              </a:lnSpc>
              <a:buNone/>
            </a:pPr>
            <a:r>
              <a:rPr lang="en-US" sz="1000" dirty="0">
                <a:solidFill>
                  <a:srgbClr val="1A1A1A"/>
                </a:solidFill>
                <a:latin typeface="Inter" pitchFamily="34" charset="0"/>
                <a:ea typeface="Inter" pitchFamily="34" charset="-122"/>
                <a:cs typeface="Inter" pitchFamily="34" charset="-120"/>
              </a:rPr>
              <a:t>Composant de visualisation PDF integre avec controles de navigation, zoom, et systeme de navigation inter-citations permettant de naviguer directement du texte de la revue vers les passages sources dans les PDFs.</a:t>
            </a:r>
            <a:endParaRPr lang="en-US" sz="1000" dirty="0"/>
          </a:p>
        </p:txBody>
      </p:sp>
      <p:sp>
        <p:nvSpPr>
          <p:cNvPr id="25" name="Shape 23"/>
          <p:cNvSpPr/>
          <p:nvPr/>
        </p:nvSpPr>
        <p:spPr>
          <a:xfrm>
            <a:off x="4727448" y="2670048"/>
            <a:ext cx="3931920" cy="1371600"/>
          </a:xfrm>
          <a:prstGeom prst="rect">
            <a:avLst>
              <a:gd name="adj" fmla="val 5333"/>
            </a:avLst>
          </a:prstGeom>
          <a:solidFill>
            <a:srgbClr val="E8E8E8"/>
          </a:solidFill>
          <a:ln/>
        </p:spPr>
      </p:sp>
      <p:sp>
        <p:nvSpPr>
          <p:cNvPr id="26" name="Shape 24"/>
          <p:cNvSpPr/>
          <p:nvPr/>
        </p:nvSpPr>
        <p:spPr>
          <a:xfrm>
            <a:off x="4709160" y="2651760"/>
            <a:ext cx="3931920" cy="1371600"/>
          </a:xfrm>
          <a:prstGeom prst="rect">
            <a:avLst>
              <a:gd name="adj" fmla="val 5333"/>
            </a:avLst>
          </a:prstGeom>
          <a:solidFill>
            <a:srgbClr val="FFFFFF"/>
          </a:solidFill>
          <a:ln w="6350">
            <a:solidFill>
              <a:srgbClr val="E0E0E0"/>
            </a:solidFill>
            <a:prstDash val="solid"/>
          </a:ln>
        </p:spPr>
      </p:sp>
      <p:sp>
        <p:nvSpPr>
          <p:cNvPr id="27" name="Shape 25"/>
          <p:cNvSpPr/>
          <p:nvPr/>
        </p:nvSpPr>
        <p:spPr>
          <a:xfrm>
            <a:off x="4709160" y="2651760"/>
            <a:ext cx="3931920" cy="45720"/>
          </a:xfrm>
          <a:prstGeom prst="rect">
            <a:avLst/>
          </a:prstGeom>
          <a:solidFill>
            <a:srgbClr val="80A4AC"/>
          </a:solidFill>
          <a:ln/>
        </p:spPr>
      </p:sp>
      <p:sp>
        <p:nvSpPr>
          <p:cNvPr id="28" name="Text 26"/>
          <p:cNvSpPr/>
          <p:nvPr/>
        </p:nvSpPr>
        <p:spPr>
          <a:xfrm>
            <a:off x="4892040" y="2788920"/>
            <a:ext cx="3566160" cy="32004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Export Bibliographique et Qualite</a:t>
            </a:r>
            <a:endParaRPr lang="en-US" sz="1200" dirty="0"/>
          </a:p>
        </p:txBody>
      </p:sp>
      <p:sp>
        <p:nvSpPr>
          <p:cNvPr id="29" name="Text 27"/>
          <p:cNvSpPr/>
          <p:nvPr/>
        </p:nvSpPr>
        <p:spPr>
          <a:xfrm>
            <a:off x="4892040" y="3154680"/>
            <a:ext cx="3566160" cy="777240"/>
          </a:xfrm>
          <a:prstGeom prst="rect">
            <a:avLst/>
          </a:prstGeom>
          <a:noFill/>
          <a:ln/>
        </p:spPr>
        <p:txBody>
          <a:bodyPr wrap="square" rtlCol="0" anchor="t"/>
          <a:lstStyle/>
          <a:p>
            <a:pPr indent="0" marL="0">
              <a:lnSpc>
                <a:spcPts val="1700"/>
              </a:lnSpc>
              <a:buNone/>
            </a:pPr>
            <a:r>
              <a:rPr lang="en-US" sz="1000" dirty="0">
                <a:solidFill>
                  <a:srgbClr val="1A1A1A"/>
                </a:solidFill>
                <a:latin typeface="Inter" pitchFamily="34" charset="0"/>
                <a:ea typeface="Inter" pitchFamily="34" charset="-122"/>
                <a:cs typeface="Inter" pitchFamily="34" charset="-120"/>
              </a:rPr>
              <a:t>Fonctionnalites d'export de bibliographie avec mise en forme des citations, gestion des erreurs partielles, et indicateur de progression methodologique sur la page de revue de litterature.</a:t>
            </a:r>
            <a:endParaRPr lang="en-US" sz="1000" dirty="0"/>
          </a:p>
        </p:txBody>
      </p:sp>
      <p:sp>
        <p:nvSpPr>
          <p:cNvPr id="30" name="Shape 28"/>
          <p:cNvSpPr/>
          <p:nvPr/>
        </p:nvSpPr>
        <p:spPr>
          <a:xfrm>
            <a:off x="521208" y="4270248"/>
            <a:ext cx="3931920" cy="1371600"/>
          </a:xfrm>
          <a:prstGeom prst="rect">
            <a:avLst>
              <a:gd name="adj" fmla="val 5333"/>
            </a:avLst>
          </a:prstGeom>
          <a:solidFill>
            <a:srgbClr val="E8E8E8"/>
          </a:solidFill>
          <a:ln/>
        </p:spPr>
      </p:sp>
      <p:sp>
        <p:nvSpPr>
          <p:cNvPr id="31" name="Shape 29"/>
          <p:cNvSpPr/>
          <p:nvPr/>
        </p:nvSpPr>
        <p:spPr>
          <a:xfrm>
            <a:off x="502920" y="4251960"/>
            <a:ext cx="3931920" cy="1371600"/>
          </a:xfrm>
          <a:prstGeom prst="rect">
            <a:avLst>
              <a:gd name="adj" fmla="val 5333"/>
            </a:avLst>
          </a:prstGeom>
          <a:solidFill>
            <a:srgbClr val="FFFFFF"/>
          </a:solidFill>
          <a:ln w="6350">
            <a:solidFill>
              <a:srgbClr val="E0E0E0"/>
            </a:solidFill>
            <a:prstDash val="solid"/>
          </a:ln>
        </p:spPr>
      </p:sp>
      <p:sp>
        <p:nvSpPr>
          <p:cNvPr id="32" name="Shape 30"/>
          <p:cNvSpPr/>
          <p:nvPr/>
        </p:nvSpPr>
        <p:spPr>
          <a:xfrm>
            <a:off x="502920" y="4251960"/>
            <a:ext cx="3931920" cy="45720"/>
          </a:xfrm>
          <a:prstGeom prst="rect">
            <a:avLst/>
          </a:prstGeom>
          <a:solidFill>
            <a:srgbClr val="003B49"/>
          </a:solidFill>
          <a:ln/>
        </p:spPr>
      </p:sp>
      <p:sp>
        <p:nvSpPr>
          <p:cNvPr id="33" name="Text 31"/>
          <p:cNvSpPr/>
          <p:nvPr/>
        </p:nvSpPr>
        <p:spPr>
          <a:xfrm>
            <a:off x="685800" y="4389120"/>
            <a:ext cx="3566160" cy="320040"/>
          </a:xfrm>
          <a:prstGeom prst="rect">
            <a:avLst/>
          </a:prstGeom>
          <a:noFill/>
          <a:ln/>
        </p:spPr>
        <p:txBody>
          <a:bodyPr wrap="square" rtlCol="0" anchor="ctr"/>
          <a:lstStyle/>
          <a:p>
            <a:pPr indent="0" marL="0">
              <a:buNone/>
            </a:pPr>
            <a:r>
              <a:rPr lang="en-US" sz="1200" b="1" dirty="0">
                <a:solidFill>
                  <a:srgbClr val="003B49"/>
                </a:solidFill>
                <a:latin typeface="Inter" pitchFamily="34" charset="0"/>
                <a:ea typeface="Inter" pitchFamily="34" charset="-122"/>
                <a:cs typeface="Inter" pitchFamily="34" charset="-120"/>
              </a:rPr>
              <a:t>Architecture et Infrastructure</a:t>
            </a:r>
            <a:endParaRPr lang="en-US" sz="1200" dirty="0"/>
          </a:p>
        </p:txBody>
      </p:sp>
      <p:sp>
        <p:nvSpPr>
          <p:cNvPr id="34" name="Text 32"/>
          <p:cNvSpPr/>
          <p:nvPr/>
        </p:nvSpPr>
        <p:spPr>
          <a:xfrm>
            <a:off x="685800" y="4754880"/>
            <a:ext cx="3566160" cy="777240"/>
          </a:xfrm>
          <a:prstGeom prst="rect">
            <a:avLst/>
          </a:prstGeom>
          <a:noFill/>
          <a:ln/>
        </p:spPr>
        <p:txBody>
          <a:bodyPr wrap="square" rtlCol="0" anchor="t"/>
          <a:lstStyle/>
          <a:p>
            <a:pPr indent="0" marL="0">
              <a:lnSpc>
                <a:spcPts val="1700"/>
              </a:lnSpc>
              <a:buNone/>
            </a:pPr>
            <a:r>
              <a:rPr lang="en-US" sz="1000" dirty="0">
                <a:solidFill>
                  <a:srgbClr val="1A1A1A"/>
                </a:solidFill>
                <a:latin typeface="Inter" pitchFamily="34" charset="0"/>
                <a:ea typeface="Inter" pitchFamily="34" charset="-122"/>
                <a:cs typeface="Inter" pitchFamily="34" charset="-120"/>
              </a:rPr>
              <a:t>Mise en place du monorepo avec structure frontend/backend, configuration de la base de donnees, Dockerfiles pour deploiement Coolify, et initialisation BMAD pour la gestion de projet agile.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3B49"/>
          </a:solidFill>
          <a:ln/>
        </p:spPr>
      </p:sp>
      <p:sp>
        <p:nvSpPr>
          <p:cNvPr id="3" name="Shape 1"/>
          <p:cNvSpPr/>
          <p:nvPr/>
        </p:nvSpPr>
        <p:spPr>
          <a:xfrm>
            <a:off x="3657600" y="2834640"/>
            <a:ext cx="1828800" cy="45720"/>
          </a:xfrm>
          <a:prstGeom prst="rect">
            <a:avLst/>
          </a:prstGeom>
          <a:solidFill>
            <a:srgbClr val="80A4AC"/>
          </a:solidFill>
          <a:ln/>
        </p:spPr>
      </p:sp>
      <p:sp>
        <p:nvSpPr>
          <p:cNvPr id="4" name="Shape 2"/>
          <p:cNvSpPr/>
          <p:nvPr/>
        </p:nvSpPr>
        <p:spPr>
          <a:xfrm>
            <a:off x="0" y="0"/>
            <a:ext cx="9144000" cy="54864"/>
          </a:xfrm>
          <a:prstGeom prst="rect">
            <a:avLst/>
          </a:prstGeom>
          <a:solidFill>
            <a:srgbClr val="80A4AC"/>
          </a:solidFill>
          <a:ln/>
        </p:spPr>
      </p:sp>
      <p:sp>
        <p:nvSpPr>
          <p:cNvPr id="5" name="Text 3"/>
          <p:cNvSpPr/>
          <p:nvPr/>
        </p:nvSpPr>
        <p:spPr>
          <a:xfrm>
            <a:off x="457200" y="1371600"/>
            <a:ext cx="8229600" cy="1371600"/>
          </a:xfrm>
          <a:prstGeom prst="rect">
            <a:avLst/>
          </a:prstGeom>
          <a:noFill/>
          <a:ln/>
        </p:spPr>
        <p:txBody>
          <a:bodyPr wrap="square" rtlCol="0" anchor="ctr"/>
          <a:lstStyle/>
          <a:p>
            <a:pPr algn="ctr" indent="0" marL="0">
              <a:buNone/>
            </a:pPr>
            <a:r>
              <a:rPr lang="en-US" sz="4800" b="1" dirty="0">
                <a:solidFill>
                  <a:srgbClr val="FFFFFF"/>
                </a:solidFill>
                <a:latin typeface="Inter" pitchFamily="34" charset="0"/>
                <a:ea typeface="Inter" pitchFamily="34" charset="-122"/>
                <a:cs typeface="Inter" pitchFamily="34" charset="-120"/>
              </a:rPr>
              <a:t>Merci.</a:t>
            </a:r>
            <a:endParaRPr lang="en-US" sz="4800" dirty="0"/>
          </a:p>
        </p:txBody>
      </p:sp>
      <p:sp>
        <p:nvSpPr>
          <p:cNvPr id="6" name="Text 4"/>
          <p:cNvSpPr/>
          <p:nvPr/>
        </p:nvSpPr>
        <p:spPr>
          <a:xfrm>
            <a:off x="457200" y="3108960"/>
            <a:ext cx="8229600" cy="640080"/>
          </a:xfrm>
          <a:prstGeom prst="rect">
            <a:avLst/>
          </a:prstGeom>
          <a:noFill/>
          <a:ln/>
        </p:spPr>
        <p:txBody>
          <a:bodyPr wrap="square" rtlCol="0" anchor="ctr"/>
          <a:lstStyle/>
          <a:p>
            <a:pPr algn="ctr" indent="0" marL="0">
              <a:buNone/>
            </a:pPr>
            <a:r>
              <a:rPr lang="en-US" sz="1800" i="1" dirty="0">
                <a:solidFill>
                  <a:srgbClr val="E6F0F2"/>
                </a:solidFill>
                <a:latin typeface="Inter" pitchFamily="34" charset="0"/>
                <a:ea typeface="Inter" pitchFamily="34" charset="-122"/>
                <a:cs typeface="Inter" pitchFamily="34" charset="-120"/>
              </a:rPr>
              <a:t>Des questions ? Echangeons.</a:t>
            </a:r>
            <a:endParaRPr lang="en-US" sz="1800" dirty="0"/>
          </a:p>
        </p:txBody>
      </p:sp>
      <p:sp>
        <p:nvSpPr>
          <p:cNvPr id="7" name="Shape 5"/>
          <p:cNvSpPr/>
          <p:nvPr/>
        </p:nvSpPr>
        <p:spPr>
          <a:xfrm>
            <a:off x="2743200" y="4389120"/>
            <a:ext cx="3657600" cy="1280160"/>
          </a:xfrm>
          <a:prstGeom prst="rect">
            <a:avLst>
              <a:gd name="adj" fmla="val 7143"/>
            </a:avLst>
          </a:prstGeom>
          <a:solidFill>
            <a:srgbClr val="00212F"/>
          </a:solidFill>
          <a:ln/>
        </p:spPr>
      </p:sp>
      <p:sp>
        <p:nvSpPr>
          <p:cNvPr id="8" name="Text 6"/>
          <p:cNvSpPr/>
          <p:nvPr/>
        </p:nvSpPr>
        <p:spPr>
          <a:xfrm>
            <a:off x="2743200" y="4480560"/>
            <a:ext cx="3657600" cy="1097280"/>
          </a:xfrm>
          <a:prstGeom prst="rect">
            <a:avLst/>
          </a:prstGeom>
          <a:noFill/>
          <a:ln/>
        </p:spPr>
        <p:txBody>
          <a:bodyPr wrap="square" rtlCol="0" anchor="ctr"/>
          <a:lstStyle/>
          <a:p>
            <a:pPr algn="ctr" indent="0" marL="0">
              <a:lnSpc>
                <a:spcPts val="2200"/>
              </a:lnSpc>
              <a:buNone/>
            </a:pPr>
            <a:r>
              <a:rPr lang="en-US" sz="1400" b="1" dirty="0">
                <a:solidFill>
                  <a:srgbClr val="FFFFFF"/>
                </a:solidFill>
                <a:latin typeface="Inter" pitchFamily="34" charset="0"/>
                <a:ea typeface="Inter" pitchFamily="34" charset="-122"/>
                <a:cs typeface="Inter" pitchFamily="34" charset="-120"/>
              </a:rPr>
              <a:t>DC Solutions
</a:t>
            </a:r>
            <a:pPr algn="ctr" indent="0" marL="0">
              <a:lnSpc>
                <a:spcPts val="2200"/>
              </a:lnSpc>
              <a:buNone/>
            </a:pPr>
            <a:r>
              <a:rPr lang="en-US" sz="1000" dirty="0">
                <a:solidFill>
                  <a:srgbClr val="E6F0F2"/>
                </a:solidFill>
                <a:latin typeface="Inter" pitchFamily="34" charset="0"/>
                <a:ea typeface="Inter" pitchFamily="34" charset="-122"/>
                <a:cs typeface="Inter" pitchFamily="34" charset="-120"/>
              </a:rPr>
              <a:t>nicolas@dcsolutions.fr  |  07 88 49 79 44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d'Avancement - Research Assistant</dc:title>
  <dc:subject>Rapport d'avancement pour DC Solutions</dc:subject>
  <dc:creator>DC Solutions</dc:creator>
  <cp:lastModifiedBy>DC Solutions</cp:lastModifiedBy>
  <cp:revision>1</cp:revision>
  <dcterms:created xsi:type="dcterms:W3CDTF">2026-02-07T16:09:23Z</dcterms:created>
  <dcterms:modified xsi:type="dcterms:W3CDTF">2026-02-07T16:09:23Z</dcterms:modified>
</cp:coreProperties>
</file>